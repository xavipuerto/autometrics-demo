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PRUEBA TÉCNICA · SERIES TEMPORALES SOBRE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2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71800"/>
            <a:ext cx="2011680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De la telemetría de una flota de coches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Arquitecto IT  ·  Idrica · Xylem  ·  javier.aragon.diaz@gmail.com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¿Quién os habla?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02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Javier Aragón</a:t>
            </a:r>
            <a:r>
              <a:rPr>
                <a:solidFill>
                  <a:srgbClr val="E2E8F0"/>
                </a:solidFill>
                <a:latin typeface="Helvetica Neue"/>
              </a:rPr>
              <a:t> — arquitecto IT.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javier.aragon.diaz@gmail.com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Actualmente en </a:t>
            </a:r>
            <a:r>
              <a:rPr b="1">
                <a:solidFill>
                  <a:srgbClr val="FBBF24"/>
                </a:solidFill>
                <a:latin typeface="Helvetica Neue"/>
              </a:rPr>
              <a:t>Idrica · Xylem</a:t>
            </a:r>
            <a:r>
              <a:rPr>
                <a:solidFill>
                  <a:srgbClr val="E2E8F0"/>
                </a:solidFill>
                <a:latin typeface="Helvetica Neue"/>
              </a:rPr>
              <a:t>, en proyectos internacionales.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 i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Y cada vez me siento más junior.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viaje: 12 apartados técnicos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03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   Hypertables y chunks — la tabla lógica y el trozo físico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   Dimensionado de chunks — 1 día (mal) vs 3 días (bien)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   Compresión nativa — rowstore → columnstore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04   Insertar en un chunk comprimido — el overflow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05   Política de compresión — el job 1000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06   Pruning — el filtro entra en 1 de 1.500 chunks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   Retención / autopurga — el job 1001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   time_bucket — downsampling 240 → 24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   Continuous aggregates — el job 1002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04   Jobs personalizados — Timescale como cron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05   Tuning de parámetros — Timescale + PostgreSQL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06   El círculo de la telemetría — resumen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Todas las cifras salen de la recreación del entorno desde cero (sept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TimescaleDB: el dato de serie temporal nativo de PostgreSQL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04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Es una </a:t>
            </a:r>
            <a:r>
              <a:rPr b="1">
                <a:solidFill>
                  <a:srgbClr val="FBBF24"/>
                </a:solidFill>
                <a:latin typeface="Helvetica Neue"/>
              </a:rPr>
              <a:t>extensión de PostgreSQL</a:t>
            </a:r>
            <a:r>
              <a:rPr>
                <a:solidFill>
                  <a:srgbClr val="E2E8F0"/>
                </a:solidFill>
                <a:latin typeface="Helvetica Neue"/>
              </a:rPr>
              <a:t>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CREATE EXTENSION timescaledb;</a:t>
            </a:r>
            <a:r>
              <a:rPr>
                <a:solidFill>
                  <a:srgbClr val="E2E8F0"/>
                </a:solidFill>
                <a:latin typeface="Helvetica Neue"/>
              </a:rPr>
              <a:t>), no un motor aparte: SQL,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EXPLAIN</a:t>
            </a:r>
            <a:r>
              <a:rPr>
                <a:solidFill>
                  <a:srgbClr val="E2E8F0"/>
                </a:solidFill>
                <a:latin typeface="Helvetica Neue"/>
              </a:rPr>
              <a:t> y catálogo son los de siempre.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Cubre la necesidad que nos trae aquí: </a:t>
            </a:r>
            <a:r>
              <a:rPr b="1">
                <a:solidFill>
                  <a:srgbClr val="FBBF24"/>
                </a:solidFill>
                <a:latin typeface="Helvetica Neue"/>
              </a:rPr>
              <a:t>lecturas que llegan sin parar</a:t>
            </a:r>
            <a:r>
              <a:rPr>
                <a:solidFill>
                  <a:srgbClr val="E2E8F0"/>
                </a:solidFill>
                <a:latin typeface="Helvetica Neue"/>
              </a:rPr>
              <a:t> — IoT, telemetría de flota, métricas, datos financieros — que hay que guardar, consultar por ventanas de tiempo y ordenar su ciclo de vida.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Y lo hace </a:t>
            </a:r>
            <a:r>
              <a:rPr b="1">
                <a:solidFill>
                  <a:srgbClr val="FBBF24"/>
                </a:solidFill>
                <a:latin typeface="Helvetica Neue"/>
              </a:rPr>
              <a:t>sin cambiar de base de datos</a:t>
            </a:r>
            <a:r>
              <a:rPr>
                <a:solidFill>
                  <a:srgbClr val="E2E8F0"/>
                </a:solidFill>
                <a:latin typeface="Helvetica Neue"/>
              </a:rPr>
              <a:t>: si ya usas PostgreSQL, lo añades y ya.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¿Y probarlo en la nube sin instalar nada? </a:t>
            </a:r>
            <a:r>
              <a:rPr b="1">
                <a:solidFill>
                  <a:srgbClr val="FBBF24"/>
                </a:solidFill>
                <a:latin typeface="Helvetica Neue"/>
              </a:rPr>
              <a:t>Tiger Cloud</a:t>
            </a:r>
            <a:r>
              <a:rPr>
                <a:solidFill>
                  <a:srgbClr val="E2E8F0"/>
                </a:solidFill>
                <a:latin typeface="Helvetica Neue"/>
              </a:rPr>
              <a:t> — la plataforma gestionada de la compañía (hoy *TigerData*) — provisiona un PostgreSQL + TimescaleDB en minutos, con </a:t>
            </a:r>
            <a:r>
              <a:rPr b="1">
                <a:solidFill>
                  <a:srgbClr val="FBBF24"/>
                </a:solidFill>
                <a:latin typeface="Helvetica Neue"/>
              </a:rPr>
              <a:t>30 días de prueba gratis sin tarjeta</a:t>
            </a:r>
            <a:r>
              <a:rPr>
                <a:solidFill>
                  <a:srgbClr val="E2E8F0"/>
                </a:solidFill>
                <a:latin typeface="Helvetica Neue"/>
              </a:rPr>
              <a:t>. Esta misma demo corre ahí igual.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74519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103120"/>
            <a:ext cx="31546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Lo que aporta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Hipertables: una tabla lógica, particiones por tiempo por dentro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Compresión nativa de los bloques viejos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Agregados continuos precalculados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Retención y autopurga del histórico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Jobs de fondo con cualquier SQL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Y por debajo, el PostgreSQL que ya conoces.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7900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Mismo SQL, mismo EXPLAIN, mismo catálogo: la diferencia es lo que el motor hace con las tablas por dentro — local o en la nube.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01_ddl.sql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Hypertables y chunks: la tabla lógica y el trozo físico por franja de tiempo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05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Hypertable</a:t>
            </a:r>
            <a:r>
              <a:rPr>
                <a:solidFill>
                  <a:srgbClr val="E2E8F0"/>
                </a:solidFill>
                <a:latin typeface="Helvetica Neue"/>
              </a:rPr>
              <a:t>: la tabla que tu SQL ve (la misma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CREATE TABLE</a:t>
            </a:r>
            <a:r>
              <a:rPr>
                <a:solidFill>
                  <a:srgbClr val="E2E8F0"/>
                </a:solidFill>
                <a:latin typeface="Helvetica Neue"/>
              </a:rPr>
              <a:t>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Chunk</a:t>
            </a:r>
            <a:r>
              <a:rPr>
                <a:solidFill>
                  <a:srgbClr val="E2E8F0"/>
                </a:solidFill>
                <a:latin typeface="Helvetica Neue"/>
              </a:rPr>
              <a:t>: cada partición temporal es una tabla física escondida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_timescaledb_internal</a:t>
            </a:r>
            <a:r>
              <a:rPr>
                <a:solidFill>
                  <a:srgbClr val="E2E8F0"/>
                </a:solidFill>
                <a:latin typeface="Helvetica Neue"/>
              </a:rPr>
              <a:t> (o en tu esquema).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particionado lo decide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chunk_time_interval</a:t>
            </a:r>
            <a:r>
              <a:rPr>
                <a:solidFill>
                  <a:srgbClr val="E2E8F0"/>
                </a:solidFill>
                <a:latin typeface="Helvetica Neue"/>
              </a:rPr>
              <a:t>: nosotros usamos </a:t>
            </a:r>
            <a:r>
              <a:rPr b="1">
                <a:solidFill>
                  <a:srgbClr val="FBBF24"/>
                </a:solidFill>
                <a:latin typeface="Helvetica Neue"/>
              </a:rPr>
              <a:t>1 día</a:t>
            </a:r>
            <a:r>
              <a:rPr>
                <a:solidFill>
                  <a:srgbClr val="E2E8F0"/>
                </a:solidFill>
                <a:latin typeface="Helvetica Neue"/>
              </a:rPr>
              <a:t>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vehiculos_ts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94760"/>
            <a:ext cx="7680960" cy="96012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7223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create_hypertable('vehiculos_ts', 'ts',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chunk_time_interval =&gt; INTERVAL '1 day');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Con associated_schema_name =&gt; 'particiones' los chunks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viven en tu esquema con nombre derivado: vehiculos_part_*_chunk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01168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40280"/>
            <a:ext cx="320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Resultado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Para tu SQL es la misma tabla de siempre; por dentro, cada franja de tiempo es un trozo físico.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 dónde viven y cómo se llaman los chunks lo decide Timescale: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vehiculos_part_*_chunk</a:t>
            </a:r>
            <a:r>
              <a:rPr>
                <a:solidFill>
                  <a:srgbClr val="94A3B8"/>
                </a:solidFill>
                <a:latin typeface="Helvetica Neue"/>
              </a:rPr>
              <a:t> en tu esquema,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_hyper_*</a:t>
            </a:r>
            <a:r>
              <a:rPr>
                <a:solidFill>
                  <a:srgbClr val="94A3B8"/>
                </a:solidFill>
                <a:latin typeface="Helvetica Neue"/>
              </a:rPr>
              <a:t> por defecto.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Ver los chunks: </a:t>
            </a:r>
            <a:r>
              <a:rPr sz="1100" b="1">
                <a:solidFill>
                  <a:srgbClr val="7DD3FC"/>
                </a:solidFill>
                <a:latin typeface="Helvetica Neue"/>
              </a:rPr>
              <a:t>timescaledb_information.chunks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02_grande.sql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Dimensionar el chunk: la decisión que marca la diferencia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06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Trocear muy fino dispara el </a:t>
            </a:r>
            <a:r>
              <a:rPr b="1">
                <a:solidFill>
                  <a:srgbClr val="FBBF24"/>
                </a:solidFill>
                <a:latin typeface="Helvetica Neue"/>
              </a:rPr>
              <a:t>overhead por chunk</a:t>
            </a:r>
            <a:r>
              <a:rPr>
                <a:solidFill>
                  <a:srgbClr val="E2E8F0"/>
                </a:solidFill>
                <a:latin typeface="Helvetica Neue"/>
              </a:rPr>
              <a:t>: cada trozo físico es una tabla, con sus metadatos, índices y páginas propias — más trozos, más gasto fijo.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Regla práctica</a:t>
            </a:r>
            <a:r>
              <a:rPr>
                <a:solidFill>
                  <a:srgbClr val="E2E8F0"/>
                </a:solidFill>
                <a:latin typeface="Helvetica Neue"/>
              </a:rPr>
              <a:t>: un chunk debe cubrir ~</a:t>
            </a:r>
            <a:r>
              <a:rPr b="1">
                <a:solidFill>
                  <a:srgbClr val="FBBF24"/>
                </a:solidFill>
                <a:latin typeface="Helvetica Neue"/>
              </a:rPr>
              <a:t>10-20 min de tu buffer target</a:t>
            </a:r>
            <a:r>
              <a:rPr>
                <a:solidFill>
                  <a:srgbClr val="E2E8F0"/>
                </a:solidFill>
                <a:latin typeface="Helvetica Neue"/>
              </a:rPr>
              <a:t> de ingesta constante; menos chunks y más grandes reducen ese gasto.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La demo juega con ambos a propósito: el "mal dimensionado" (un chunk por día) y el "correcto" (tres días por chunk) nos sirven para ver el efecto en el EXPLAIN.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57400"/>
            <a:ext cx="3611880" cy="2514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3317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Para la telemetría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 chunk debe cubrir ~10-20 min de la ingesta constante que quepa en tus buffers.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En flota: una franja de 3 días por chunk da chunks con oficio.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03_compresion.sql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Compresión nativa: la tabla fila se convierte en columnas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07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Cada chunk comprimido pasa a ser un </a:t>
            </a:r>
            <a:r>
              <a:rPr b="1">
                <a:solidFill>
                  <a:srgbClr val="FBBF24"/>
                </a:solidFill>
                <a:latin typeface="Helvetica Neue"/>
              </a:rPr>
              <a:t>columnstore</a:t>
            </a:r>
            <a:r>
              <a:rPr>
                <a:solidFill>
                  <a:srgbClr val="E2E8F0"/>
                </a:solidFill>
                <a:latin typeface="Helvetica Neue"/>
              </a:rPr>
              <a:t>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..._chunk_compressed</a:t>
            </a:r>
            <a:r>
              <a:rPr>
                <a:solidFill>
                  <a:srgbClr val="E2E8F0"/>
                </a:solidFill>
                <a:latin typeface="Helvetica Neue"/>
              </a:rPr>
              <a:t>) y es </a:t>
            </a:r>
            <a:r>
              <a:rPr b="1">
                <a:solidFill>
                  <a:srgbClr val="FBBF24"/>
                </a:solidFill>
                <a:latin typeface="Helvetica Neue"/>
              </a:rPr>
              <a:t>lossless</a:t>
            </a:r>
            <a:r>
              <a:rPr>
                <a:solidFill>
                  <a:srgbClr val="E2E8F0"/>
                </a:solidFill>
                <a:latin typeface="Helvetica Neue"/>
              </a:rPr>
              <a:t> (pérdida cero):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count(*)</a:t>
            </a:r>
            <a:r>
              <a:rPr>
                <a:solidFill>
                  <a:srgbClr val="E2E8F0"/>
                </a:solidFill>
                <a:latin typeface="Helvetica Neue"/>
              </a:rPr>
              <a:t> se mantiene.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Algoritmos automáticos por tipo: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delta-of-delta + simple-8b + RLE</a:t>
            </a:r>
            <a:r>
              <a:rPr>
                <a:solidFill>
                  <a:srgbClr val="E2E8F0"/>
                </a:solidFill>
                <a:latin typeface="Helvetica Neue"/>
              </a:rPr>
              <a:t> → enteros, timestamps, bool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XOR (Gorilla)</a:t>
            </a:r>
            <a:r>
              <a:rPr>
                <a:solidFill>
                  <a:srgbClr val="E2E8F0"/>
                </a:solidFill>
                <a:latin typeface="Helvetica Neue"/>
              </a:rPr>
              <a:t> → flotantes: velocidad, presiones, temperaturas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diccionario</a:t>
            </a:r>
            <a:r>
              <a:rPr>
                <a:solidFill>
                  <a:srgbClr val="E2E8F0"/>
                </a:solidFill>
                <a:latin typeface="Helvetica Neue"/>
              </a:rPr>
              <a:t> → baja cardinalidad: auto_id, rpm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Se configura con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segmentby</a:t>
            </a:r>
            <a:r>
              <a:rPr>
                <a:solidFill>
                  <a:srgbClr val="E2E8F0"/>
                </a:solidFill>
                <a:latin typeface="Helvetica Neue"/>
              </a:rPr>
              <a:t> (por coche) y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orderby</a:t>
            </a:r>
            <a:r>
              <a:rPr>
                <a:solidFill>
                  <a:srgbClr val="E2E8F0"/>
                </a:solidFill>
                <a:latin typeface="Helvetica Neue"/>
              </a:rPr>
              <a:t> (ts DESC).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Contrapartida: escribir sobre columna comprimida es más caro → por eso solo se comprime lo </a:t>
            </a:r>
            <a:r>
              <a:rPr b="1">
                <a:solidFill>
                  <a:srgbClr val="FBBF24"/>
                </a:solidFill>
                <a:latin typeface="Helvetica Neue"/>
              </a:rPr>
              <a:t>viejo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65960"/>
            <a:ext cx="3566160" cy="24688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24028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Resultado medido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56 MB → 17 MB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por chunk · −70 % · ×3,3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Doc Timescale: hasta 90-95 % en casos típicos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SQL habitado: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ALTER TABLE vehiculos_grande SET (timescaledb.compress, segmentby='auto_id', orderby='ts DESC');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03_compresion.sql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vehiculos_grande: 3 chunks de 3 días, 2 comprimidos y 1 de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08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Chunk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2107692"/>
            <a:ext cx="243596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9481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Antes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77832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Después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6184" y="2107692"/>
            <a:ext cx="8869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Comprimido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3001 (en otra recreación: 6003)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464308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2026-09-13 → 09-16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9481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7832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17 MB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6184" y="2464308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3002 (… 6004)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2793491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2026-09-16 → 09-19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9481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7832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17 MB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6184" y="2793491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3003 (… 6005) ·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064" y="3122675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2026-09-19 → 09-22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9481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7832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56 MB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6184" y="3122675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Los datos se </a:t>
            </a:r>
            <a:r>
              <a:rPr b="1">
                <a:solidFill>
                  <a:srgbClr val="FBBF24"/>
                </a:solidFill>
                <a:latin typeface="Helvetica Neue"/>
              </a:rPr>
              <a:t>leen igual pero desde el columnstore</a:t>
            </a:r>
            <a:r>
              <a:rPr>
                <a:solidFill>
                  <a:srgbClr val="E2E8F0"/>
                </a:solidFill>
                <a:latin typeface="Helvetica Neue"/>
              </a:rPr>
              <a:t>; la tabla fila del chunk queda a ~0 bytes.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Tamaños calculados con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pg_total_relation_size(chunk)</a:t>
            </a:r>
            <a:r>
              <a:rPr>
                <a:solidFill>
                  <a:srgbClr val="E2E8F0"/>
                </a:solidFill>
                <a:latin typeface="Helvetica Neue"/>
              </a:rPr>
              <a:t> — incluye índices y el almacenamiento comprimido.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Los nombres de chunk </a:t>
            </a:r>
            <a:r>
              <a:rPr b="1">
                <a:solidFill>
                  <a:srgbClr val="FBBF24"/>
                </a:solidFill>
                <a:latin typeface="Helvetica Neue"/>
              </a:rPr>
              <a:t>cambian en cada recreación</a:t>
            </a:r>
            <a:r>
              <a:rPr>
                <a:solidFill>
                  <a:srgbClr val="E2E8F0"/>
                </a:solidFill>
                <a:latin typeface="Helvetica Neue"/>
              </a:rPr>
              <a:t>: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3001</a:t>
            </a:r>
            <a:r>
              <a:rPr>
                <a:solidFill>
                  <a:srgbClr val="E2E8F0"/>
                </a:solidFill>
                <a:latin typeface="Helvetica Neue"/>
              </a:rPr>
              <a:t> aquí,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6003</a:t>
            </a:r>
            <a:r>
              <a:rPr>
                <a:solidFill>
                  <a:srgbClr val="E2E8F0"/>
                </a:solidFill>
                <a:latin typeface="Helvetica Neue"/>
              </a:rPr>
              <a:t> en otra pasada. Se resuelven por rango, no por nombre.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El tercer chunk queda </a:t>
            </a:r>
            <a:r>
              <a:rPr b="1">
                <a:solidFill>
                  <a:srgbClr val="FBBF24"/>
                </a:solidFill>
                <a:latin typeface="Helvetica Neue"/>
              </a:rPr>
              <a:t>sin comprimir a propósito</a:t>
            </a:r>
            <a:r>
              <a:rPr>
                <a:solidFill>
                  <a:srgbClr val="E2E8F0"/>
                </a:solidFill>
                <a:latin typeface="Helvetica Neue"/>
              </a:rPr>
              <a:t> para comparar en directo.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5321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1.555.200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1792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filas siguen ahí tras comprimir (count intacto)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04_insert_chunk_comprimido.sql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¿Insertar en un chunk ya comprimido? Sí, y sin descomprimir todo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09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Mito a corregir</a:t>
            </a:r>
            <a:r>
              <a:rPr>
                <a:solidFill>
                  <a:srgbClr val="E2E8F0"/>
                </a:solidFill>
                <a:latin typeface="Helvetica Neue"/>
              </a:rPr>
              <a:t>: "Timescale descomprime y recompresa en cada INSERT" → </a:t>
            </a:r>
            <a:r>
              <a:rPr b="1">
                <a:solidFill>
                  <a:srgbClr val="FBBF24"/>
                </a:solidFill>
                <a:latin typeface="Helvetica Neue"/>
              </a:rPr>
              <a:t>falso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Las filas nuevas van a un </a:t>
            </a:r>
            <a:r>
              <a:rPr b="1">
                <a:solidFill>
                  <a:srgbClr val="FBBF24"/>
                </a:solidFill>
                <a:latin typeface="Helvetica Neue"/>
              </a:rPr>
              <a:t>overflow rowstore</a:t>
            </a:r>
            <a:r>
              <a:rPr>
                <a:solidFill>
                  <a:srgbClr val="E2E8F0"/>
                </a:solidFill>
                <a:latin typeface="Helvetica Neue"/>
              </a:rPr>
              <a:t> del chunk: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is_compressed</a:t>
            </a:r>
            <a:r>
              <a:rPr>
                <a:solidFill>
                  <a:srgbClr val="E2E8F0"/>
                </a:solidFill>
                <a:latin typeface="Helvetica Neue"/>
              </a:rPr>
              <a:t> sigue 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</a:t>
            </a:r>
            <a:r>
              <a:rPr>
                <a:solidFill>
                  <a:srgbClr val="E2E8F0"/>
                </a:solidFill>
                <a:latin typeface="Helvetica Neue"/>
              </a:rPr>
              <a:t> pero el chunk </a:t>
            </a:r>
            <a:r>
              <a:rPr b="1">
                <a:solidFill>
                  <a:srgbClr val="FBBF24"/>
                </a:solidFill>
                <a:latin typeface="Helvetica Neue"/>
              </a:rPr>
              <a:t>crece</a:t>
            </a:r>
            <a:r>
              <a:rPr>
                <a:solidFill>
                  <a:srgbClr val="E2E8F0"/>
                </a:solidFill>
                <a:latin typeface="Helvetica Neue"/>
              </a:rPr>
              <a:t> (8192 B → 24 kB con 10 filas).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merge con el columnstore llega al </a:t>
            </a:r>
            <a:r>
              <a:rPr b="1">
                <a:solidFill>
                  <a:srgbClr val="FBBF24"/>
                </a:solidFill>
                <a:latin typeface="Helvetica Neue"/>
              </a:rPr>
              <a:t>recomprimir</a:t>
            </a:r>
            <a:r>
              <a:rPr>
                <a:solidFill>
                  <a:srgbClr val="E2E8F0"/>
                </a:solidFill>
                <a:latin typeface="Helvetica Neue"/>
              </a:rPr>
              <a:t>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compress_chunk()</a:t>
            </a:r>
            <a:r>
              <a:rPr>
                <a:solidFill>
                  <a:srgbClr val="E2E8F0"/>
                </a:solidFill>
                <a:latin typeface="Helvetica Neue"/>
              </a:rPr>
              <a:t> o la política de compresión (job 1000).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Medidas (2026-09):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lote de 5 filas → 5,6 ms  ·  5 individuales → ~0,5 ms c/u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1M en un INSERT → 3,5 s (~285 000 filas/s)  ·  pgbench fila-a-fila → 4.697 tps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Recomendación: </a:t>
            </a:r>
            <a:r>
              <a:rPr b="1">
                <a:solidFill>
                  <a:srgbClr val="FBBF24"/>
                </a:solidFill>
                <a:latin typeface="Helvetica Neue"/>
              </a:rPr>
              <a:t>lotes de ≥1000 filas o `COPY`</a:t>
            </a:r>
            <a:r>
              <a:rPr>
                <a:solidFill>
                  <a:srgbClr val="FBBF24"/>
                </a:solidFill>
                <a:latin typeface="Helvetica Neue"/>
              </a:rPr>
              <a:t>; deja que la política reabsorba el overflow.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SELECT * FROM chunk…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overflow + columnstore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= lo que lee toda consulta de ese chunk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Backfill puntual en chunk viejo: fuerza luego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compress_chunk</a:t>
            </a:r>
            <a:r>
              <a:rPr>
                <a:solidFill>
                  <a:srgbClr val="94A3B8"/>
                </a:solidFill>
                <a:latin typeface="Helvetica Neue"/>
              </a:rPr>
              <a:t> sobre ese chunk y duerme tranquilo con la política.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05_compresion_politica.sql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política de compresión — job 1000, que se ocupa de todo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10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7680960" cy="15544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7223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add_compression_policy('vehiculos_grande',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compress_after    =&gt; INTERVAL '24 hours',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schedule_interval =&gt; INTERVAL '24 hours');  --→ job 1000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run_job(1000);            -- forzarlo a mano (procedimiento)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alter_job(1000, scheduled =&gt; false);         -- pausar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remove_compression_policy('vehiculos_grande'); -- borrar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Cada </a:t>
            </a:r>
            <a:r>
              <a:rPr b="1">
                <a:solidFill>
                  <a:srgbClr val="FBBF24"/>
                </a:solidFill>
                <a:latin typeface="Helvetica Neue"/>
              </a:rPr>
              <a:t>24 h</a:t>
            </a:r>
            <a:r>
              <a:rPr>
                <a:solidFill>
                  <a:srgbClr val="E2E8F0"/>
                </a:solidFill>
                <a:latin typeface="Helvetica Neue"/>
              </a:rPr>
              <a:t> comprime/recomprime todo chunk cuyo rango terminó hace </a:t>
            </a:r>
            <a:r>
              <a:rPr b="1">
                <a:solidFill>
                  <a:srgbClr val="FBBF24"/>
                </a:solidFill>
                <a:latin typeface="Helvetica Neue"/>
              </a:rPr>
              <a:t>&gt;24 h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Reabsorbe el overflow</a:t>
            </a:r>
            <a:r>
              <a:rPr>
                <a:solidFill>
                  <a:srgbClr val="E2E8F0"/>
                </a:solidFill>
                <a:latin typeface="Helvetica Neue"/>
              </a:rPr>
              <a:t> del rowstore al columnstore sin intervención manual.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Respeta el chunk activo</a:t>
            </a:r>
            <a:r>
              <a:rPr>
                <a:solidFill>
                  <a:srgbClr val="E2E8F0"/>
                </a:solidFill>
                <a:latin typeface="Helvetica Neue"/>
              </a:rPr>
              <a:t>: nunca toca la ventana reciente (por eso el 3003 sigue sin comprimir).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job_stats</a:t>
            </a:r>
            <a:r>
              <a:rPr>
                <a:solidFill>
                  <a:srgbClr val="E2E8F0"/>
                </a:solidFill>
                <a:latin typeface="Helvetica Neue"/>
              </a:rPr>
              <a:t> /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job_history</a:t>
            </a:r>
            <a:r>
              <a:rPr>
                <a:solidFill>
                  <a:srgbClr val="E2E8F0"/>
                </a:solidFill>
                <a:latin typeface="Helvetica Neue"/>
              </a:rPr>
              <a:t> muestran la ejecución en vivo: Success, tiempos, siguiente arranque.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429000" cy="2148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286000"/>
            <a:ext cx="3017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Estado probado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job 1000 · Success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last_run ≈ al crearse, next_start +24 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Speech: "si no te convence, lo quitas en una línea"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07_explain_queries.sql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Pruning: el filtro temporal entra directo en el chunk que toca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11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Consulta (mismo filtro 1 día)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2107692"/>
            <a:ext cx="354238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5905" y="210769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Coste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vehiculos_ts + ts (hypertable 1d)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064" y="2464308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Seq Scan → 1 solo chunk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5905" y="246430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0,09 ms · 3 buffers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vehiculos_ts + ts 30 días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064" y="2793491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Append con ~30 partner aggregates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5905" y="2793491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1,5 ms · 90 buffers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vehiculos_plana (sin Timescale)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3122675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Parallel Seq Scan toda la tabla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5905" y="3122675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20,5 ms · 4.440 buffers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74135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51859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vehiculos_grande (comprimida)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4064" y="3451859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ColumnarIndexScan en columnstore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5905" y="3451859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filtra y agrega en compresión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“El peor caso de la tabla plana es el caso normal de Timescale”</a:t>
            </a:r>
            <a:r>
              <a:rPr>
                <a:solidFill>
                  <a:srgbClr val="E2E8F0"/>
                </a:solidFill>
                <a:latin typeface="Helvetica Neue"/>
              </a:rPr>
              <a:t>: la misma consulta mueve 4.440 buffers en plana y 3 en la hypertable.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EXPLAIN (COSTS OFF) SELECT … FROM vehiculos_ts WHERE ts &gt;= '2026-05-15' AND ts &lt; '2026-05-16';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Nota rigurosa: tamaños y tiempos medidos tal cual en el laboratorio. No afirmamos “228× más lento” sin un benchmark controlado.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09_retencion_autopurga.sql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Retención / autopurga: que lo viejo desaparezca solo — job 1001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12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4630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Manual, una vez: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drop_chunks('vehiculos_grande', older_than =&gt; now() -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Automático: política de retención → job 1001 (cada 24 h)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add_retention_policy('vehiculos_grande', drop_after =&gt;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run_job(1001);   SELECT remove_retention_policy('vehiculos_grande');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Borra </a:t>
            </a:r>
            <a:r>
              <a:rPr b="1">
                <a:solidFill>
                  <a:srgbClr val="FBBF24"/>
                </a:solidFill>
                <a:latin typeface="Helvetica Neue"/>
              </a:rPr>
              <a:t>chunks completos</a:t>
            </a:r>
            <a:r>
              <a:rPr>
                <a:solidFill>
                  <a:srgbClr val="E2E8F0"/>
                </a:solidFill>
                <a:latin typeface="Helvetica Neue"/>
              </a:rPr>
              <a:t>, no filas: elimina el chunk cuando su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range_end</a:t>
            </a:r>
            <a:r>
              <a:rPr>
                <a:solidFill>
                  <a:srgbClr val="E2E8F0"/>
                </a:solidFill>
                <a:latin typeface="Helvetica Neue"/>
              </a:rPr>
              <a:t> queda antes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now() - drop_after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En la demo: </a:t>
            </a:r>
            <a:r>
              <a:rPr b="1">
                <a:solidFill>
                  <a:srgbClr val="FBBF24"/>
                </a:solidFill>
                <a:latin typeface="Helvetica Neue"/>
              </a:rPr>
              <a:t>3 → 2 chunks</a:t>
            </a:r>
            <a:r>
              <a:rPr>
                <a:solidFill>
                  <a:srgbClr val="E2E8F0"/>
                </a:solidFill>
                <a:latin typeface="Helvetica Neue"/>
              </a:rPr>
              <a:t>; la autopurga se llevó exactamente un chunk (</a:t>
            </a:r>
            <a:r>
              <a:rPr b="1">
                <a:solidFill>
                  <a:srgbClr val="FBBF24"/>
                </a:solidFill>
                <a:latin typeface="Helvetica Neue"/>
              </a:rPr>
              <a:t>−518.405 filas</a:t>
            </a:r>
            <a:r>
              <a:rPr>
                <a:solidFill>
                  <a:srgbClr val="E2E8F0"/>
                </a:solidFill>
                <a:latin typeface="Helvetica Neue"/>
              </a:rPr>
              <a:t>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Compresión (1000) y retención (1001) son </a:t>
            </a:r>
            <a:r>
              <a:rPr b="1">
                <a:solidFill>
                  <a:srgbClr val="FBBF24"/>
                </a:solidFill>
                <a:latin typeface="Helvetica Neue"/>
              </a:rPr>
              <a:t>dos jobs distintos que se complementan</a:t>
            </a:r>
            <a:r>
              <a:rPr>
                <a:solidFill>
                  <a:srgbClr val="E2E8F0"/>
                </a:solidFill>
                <a:latin typeface="Helvetica Neue"/>
              </a:rPr>
              <a:t>: comprimo lo viejo y, cuando pasa aún más tiempo, lo </a:t>
            </a:r>
            <a:r>
              <a:rPr b="1">
                <a:solidFill>
                  <a:srgbClr val="FBBF24"/>
                </a:solidFill>
                <a:latin typeface="Helvetica Neue"/>
              </a:rPr>
              <a:t>borro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794760"/>
            <a:ext cx="3429000" cy="14630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4023360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En la charla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“los datos se comprimen y al final de su vida útil, Timescale los borra sin que yo me acuerde”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10_time_bucket.sql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Downsampling: 240 lecturas sueltas → 24 medias horizontales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13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14300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time_bucket('1 hour', ts) AS hora,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count(*)             AS lecturas,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round(avg(velocidad)::numeric,1) AS vel_media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FROM vehiculos_ts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GROUP BY 1 ORDER BY 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A diferencia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date_trunc</a:t>
            </a:r>
            <a:r>
              <a:rPr>
                <a:solidFill>
                  <a:srgbClr val="E2E8F0"/>
                </a:solidFill>
                <a:latin typeface="Helvetica Neue"/>
              </a:rPr>
              <a:t>, alinea con una </a:t>
            </a:r>
            <a:r>
              <a:rPr b="1">
                <a:solidFill>
                  <a:srgbClr val="FBBF24"/>
                </a:solidFill>
                <a:latin typeface="Helvetica Neue"/>
              </a:rPr>
              <a:t>parrilla fija</a:t>
            </a:r>
            <a:r>
              <a:rPr>
                <a:solidFill>
                  <a:srgbClr val="E2E8F0"/>
                </a:solidFill>
                <a:latin typeface="Helvetica Neue"/>
              </a:rPr>
              <a:t>: sirve para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2 hours</a:t>
            </a:r>
            <a:r>
              <a:rPr>
                <a:solidFill>
                  <a:srgbClr val="E2E8F0"/>
                </a:solidFill>
                <a:latin typeface="Helvetica Neue"/>
              </a:rPr>
              <a:t>,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90 minutes</a:t>
            </a:r>
            <a:r>
              <a:rPr>
                <a:solidFill>
                  <a:srgbClr val="E2E8F0"/>
                </a:solidFill>
                <a:latin typeface="Helvetica Neue"/>
              </a:rPr>
              <a:t>, semanas… y series uniformes.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Resultado real (2026-05-15): </a:t>
            </a:r>
            <a:r>
              <a:rPr b="1">
                <a:solidFill>
                  <a:srgbClr val="FBBF24"/>
                </a:solidFill>
                <a:latin typeface="Helvetica Neue"/>
              </a:rPr>
              <a:t>24 filas</a:t>
            </a:r>
            <a:r>
              <a:rPr>
                <a:solidFill>
                  <a:srgbClr val="E2E8F0"/>
                </a:solidFill>
                <a:latin typeface="Helvetica Neue"/>
              </a:rPr>
              <a:t>, cada una con sus 10 lecturas de la hora.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Es el </a:t>
            </a:r>
            <a:r>
              <a:rPr b="1">
                <a:solidFill>
                  <a:srgbClr val="FBBF24"/>
                </a:solidFill>
                <a:latin typeface="Helvetica Neue"/>
              </a:rPr>
              <a:t>ladrillo</a:t>
            </a:r>
            <a:r>
              <a:rPr>
                <a:solidFill>
                  <a:srgbClr val="E2E8F0"/>
                </a:solidFill>
                <a:latin typeface="Helvetica Neue"/>
              </a:rPr>
              <a:t> de los continuous aggregates: si esto lo hace el motor de forma continua, tienes un cagg.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20640"/>
            <a:ext cx="6766560" cy="2926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170931"/>
            <a:ext cx="2487168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hora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lecturas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vel_media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13248"/>
            <a:ext cx="676656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5463540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00:00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89,0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687568"/>
            <a:ext cx="6766560" cy="274320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73785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61,6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961888"/>
            <a:ext cx="676656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01217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4992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56,7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236207"/>
            <a:ext cx="6766560" cy="274320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28649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03:00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64992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61,0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5120640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34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240 → 24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misma información, al tamaño de una diapositiva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11_continuous_aggregates.sql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Continuous aggregates: el resumen precalculado — job 1002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14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Una </a:t>
            </a:r>
            <a:r>
              <a:rPr b="1">
                <a:solidFill>
                  <a:srgbClr val="FBBF24"/>
                </a:solidFill>
                <a:latin typeface="Helvetica Neue"/>
              </a:rPr>
              <a:t>vista materializada</a:t>
            </a:r>
            <a:r>
              <a:rPr>
                <a:solidFill>
                  <a:srgbClr val="E2E8F0"/>
                </a:solidFill>
                <a:latin typeface="Helvetica Neue"/>
              </a:rPr>
              <a:t> que guarda el resultado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time_bucket + GROUP BY</a:t>
            </a:r>
            <a:r>
              <a:rPr>
                <a:solidFill>
                  <a:srgbClr val="E2E8F0"/>
                </a:solidFill>
                <a:latin typeface="Helvetica Neue"/>
              </a:rPr>
              <a:t>; se refresca </a:t>
            </a:r>
            <a:r>
              <a:rPr b="1">
                <a:solidFill>
                  <a:srgbClr val="FBBF24"/>
                </a:solidFill>
                <a:latin typeface="Helvetica Neue"/>
              </a:rPr>
              <a:t>por ventanas</a:t>
            </a:r>
            <a:r>
              <a:rPr>
                <a:solidFill>
                  <a:srgbClr val="E2E8F0"/>
                </a:solidFill>
                <a:latin typeface="Helvetica Neue"/>
              </a:rPr>
              <a:t> (solo lo que cambió).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Vive en su propia hypertable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_materialized_hypertable_*</a:t>
            </a:r>
            <a:r>
              <a:rPr>
                <a:solidFill>
                  <a:srgbClr val="E2E8F0"/>
                </a:solidFill>
                <a:latin typeface="Helvetica Neue"/>
              </a:rPr>
              <a:t> — el nombre cambia por recreación).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Evidencias: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tamaño: cruda </a:t>
            </a:r>
            <a:r>
              <a:rPr b="1">
                <a:solidFill>
                  <a:srgbClr val="FBBF24"/>
                </a:solidFill>
                <a:latin typeface="Helvetica Neue"/>
              </a:rPr>
              <a:t>94 MB</a:t>
            </a:r>
            <a:r>
              <a:rPr>
                <a:solidFill>
                  <a:srgbClr val="E2E8F0"/>
                </a:solidFill>
                <a:latin typeface="Helvetica Neue"/>
              </a:rPr>
              <a:t> → cagg </a:t>
            </a:r>
            <a:r>
              <a:rPr b="1">
                <a:solidFill>
                  <a:srgbClr val="FBBF24"/>
                </a:solidFill>
                <a:latin typeface="Helvetica Neue"/>
              </a:rPr>
              <a:t>57 MB</a:t>
            </a:r>
            <a:r>
              <a:rPr>
                <a:solidFill>
                  <a:srgbClr val="E2E8F0"/>
                </a:solidFill>
                <a:latin typeface="Helvetica Neue"/>
              </a:rPr>
              <a:t> (aún sin comprimir)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consulta 1 año: cruda ~24 ms · 16.121 buffers → </a:t>
            </a:r>
            <a:r>
              <a:rPr b="1">
                <a:solidFill>
                  <a:srgbClr val="FBBF24"/>
                </a:solidFill>
                <a:latin typeface="Helvetica Neue"/>
              </a:rPr>
              <a:t>cagg ~9 ms · 1.640 buffers</a:t>
            </a:r>
            <a:r>
              <a:rPr>
                <a:solidFill>
                  <a:srgbClr val="E2E8F0"/>
                </a:solidFill>
                <a:latin typeface="Helvetica Neue"/>
              </a:rPr>
              <a:t> (~10× menos I/O)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Gotcha 2.30</a:t>
            </a:r>
            <a:r>
              <a:rPr>
                <a:solidFill>
                  <a:srgbClr val="FBBF24"/>
                </a:solidFill>
                <a:latin typeface="Helvetica Neue"/>
              </a:rPr>
              <a:t>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materialized_only = t</a:t>
            </a:r>
            <a:r>
              <a:rPr>
                <a:solidFill>
                  <a:srgbClr val="FBBF24"/>
                </a:solidFill>
                <a:latin typeface="Helvetica Neue"/>
              </a:rPr>
              <a:t> (sin realtime) → la fila recién insertada no sale hasta refrescar (manual o política).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029200"/>
            <a:ext cx="7498079" cy="105156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66360"/>
            <a:ext cx="7040879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add_continuous_aggregate_policy('cag_vel_hora',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start_offset =&gt; INTERVAL '1 month',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end_offset   =&gt; INTERVAL '1 hour',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schedule_interval =&gt; INTERVAL '1 hour');  --→ job 1002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48840"/>
            <a:ext cx="30175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cagg cag_vel_hora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360 001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buckets (hora × coche)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Refresco: 1 h, ventana [−1 mes, −1 h] — el bucket en curso no se recalcula.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12_tuning_gucs.sql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Tuning: Timescale es PostgreSQL + media docena de GUC propias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15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61972"/>
            <a:ext cx="376367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Parámetro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1494" y="2061972"/>
            <a:ext cx="39849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Valor aquí (8 CPU / 8 GB, auto)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5905" y="206197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Regla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40864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0487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shared_buffers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1494" y="240487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5905" y="240487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25 % de la RAM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42616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0662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effective_cache_size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1494" y="270662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~5,7 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5905" y="270662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~75 % de la 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944368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00837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work_mem / maintenance_work_mem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1494" y="300837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 MB / ~1 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5905" y="300837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8-16 MB · 5-6 % 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246120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10128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max_parallel_workers / _per_gather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1494" y="3310128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 /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5905" y="331012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= nº de núcleos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47872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611880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max_worker_processes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1494" y="3611880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45905" y="3611880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parallel + bgw + margen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849624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91363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timescaledb.max_background_workers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1494" y="391363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45905" y="391363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hilos de los jobs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51376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21538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timescaledb.max_open_chunks_per_insert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1494" y="421538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1024 → 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45905" y="421538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≥chunks abiertos en un INSERT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453128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451713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timescaledb.telemetry_level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41494" y="451713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basic → off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5905" y="451713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off en producción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La imagen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timescaledb</a:t>
            </a:r>
            <a:r>
              <a:rPr>
                <a:solidFill>
                  <a:srgbClr val="E2E8F0"/>
                </a:solidFill>
                <a:latin typeface="Helvetica Neue"/>
              </a:rPr>
              <a:t> </a:t>
            </a:r>
            <a:r>
              <a:rPr b="1">
                <a:solidFill>
                  <a:srgbClr val="FBBF24"/>
                </a:solidFill>
                <a:latin typeface="Helvetica Neue"/>
              </a:rPr>
              <a:t>auto-tunea al arrancar</a:t>
            </a:r>
            <a:r>
              <a:rPr>
                <a:solidFill>
                  <a:srgbClr val="E2E8F0"/>
                </a:solidFill>
                <a:latin typeface="Helvetica Neue"/>
              </a:rPr>
              <a:t> según CPU/RAM del contenedor. En producción, más RAM/corees de job y chunks grandes…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Ejemplo 4 CPU / 16 GB: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ALTER SYSTEM SET max_worker_processes=28; max_background_workers=8; max_open_chunks_per_insert=16;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13_jobs_personalizados_bonus.sql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Jobs personalizados: Timescale como cron de PostgreSQL — job 1004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16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3258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add_job('calc_kpi_ultima_hora(int,jsonb)'::regprocedure,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        schedule_interval =&gt; INTERVAL '1 hour');  --→ 1003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run_job(1003);                -- rellena kpi_velocidad (10 filas)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alter_job(1003, scheduled =&gt; false);  SELECT delete_job(1003);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add_job(...);               -- recreado → 1004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661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Programas </a:t>
            </a:r>
            <a:r>
              <a:rPr b="1">
                <a:solidFill>
                  <a:srgbClr val="FBBF24"/>
                </a:solidFill>
                <a:latin typeface="Helvetica Neue"/>
              </a:rPr>
              <a:t>cualquier procedimiento/función PostgreSQL</a:t>
            </a:r>
            <a:r>
              <a:rPr>
                <a:solidFill>
                  <a:srgbClr val="E2E8F0"/>
                </a:solidFill>
                <a:latin typeface="Helvetica Neue"/>
              </a:rPr>
              <a:t> en el planificador de fondo: sin cron aparte.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El procedimiento recibe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job_id int, config jsonb</a:t>
            </a:r>
            <a:r>
              <a:rPr>
                <a:solidFill>
                  <a:srgbClr val="E2E8F0"/>
                </a:solidFill>
                <a:latin typeface="Helvetica Neue"/>
              </a:rPr>
              <a:t> (Timescale los inyecta).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Nuestro ejemplo: calcula los </a:t>
            </a:r>
            <a:r>
              <a:rPr b="1">
                <a:solidFill>
                  <a:srgbClr val="FBBF24"/>
                </a:solidFill>
                <a:latin typeface="Helvetica Neue"/>
              </a:rPr>
              <a:t>máximos de velocidad/rpm de la última hora completa</a:t>
            </a:r>
            <a:r>
              <a:rPr>
                <a:solidFill>
                  <a:srgbClr val="E2E8F0"/>
                </a:solidFill>
                <a:latin typeface="Helvetica Neue"/>
              </a:rPr>
              <a:t> y los upserta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kpi_velocidad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En 2.30 el borrado es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delete_job</a:t>
            </a:r>
            <a:r>
              <a:rPr>
                <a:solidFill>
                  <a:srgbClr val="E2E8F0"/>
                </a:solidFill>
                <a:latin typeface="Helvetica Neue"/>
              </a:rPr>
              <a:t> (el viejo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remove_job</a:t>
            </a:r>
            <a:r>
              <a:rPr>
                <a:solidFill>
                  <a:srgbClr val="E2E8F0"/>
                </a:solidFill>
                <a:latin typeface="Helvetica Neue"/>
              </a:rPr>
              <a:t> ya no existe).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kpi_velocidad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 fila por coche y 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27.7 → 1.934 rpm_max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datos de muestra, job ejecutado a mano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círculo de la telemetría: 4 jobs que mantienen viva la historia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17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INGESTA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lotes ≥1000 o COPY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8296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78024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HIPERTABLE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chunks por tiempo · comprime lo viejo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87952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COMPRIME (1000)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rowstore → columnstore · −70 %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07607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17336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AGREGA (1002)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17336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cagg cada hora · −10× I/O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27264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36992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87171"/>
                </a:solidFill>
                <a:latin typeface="Helvetica Neue"/>
              </a:defRPr>
            </a:pPr>
            <a:r>
              <a:rPr>
                <a:solidFill>
                  <a:srgbClr val="F87171"/>
                </a:solidFill>
                <a:latin typeface="Helvetica Neue"/>
              </a:rPr>
              <a:t>BORRA (1001)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6992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autopurga del chunk caducado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46919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56647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KPI (1004)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56647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cualquier procedimiento, cron propio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5409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Panel final de jobs (todo vivo): </a:t>
            </a:r>
            <a:r>
              <a:rPr b="1">
                <a:solidFill>
                  <a:srgbClr val="FBBF24"/>
                </a:solidFill>
                <a:latin typeface="Helvetica Neue"/>
              </a:rPr>
              <a:t>1000</a:t>
            </a:r>
            <a:r>
              <a:rPr>
                <a:solidFill>
                  <a:srgbClr val="E2E8F0"/>
                </a:solidFill>
                <a:latin typeface="Helvetica Neue"/>
              </a:rPr>
              <a:t> compresión · </a:t>
            </a:r>
            <a:r>
              <a:rPr b="1">
                <a:solidFill>
                  <a:srgbClr val="FBBF24"/>
                </a:solidFill>
                <a:latin typeface="Helvetica Neue"/>
              </a:rPr>
              <a:t>1001</a:t>
            </a:r>
            <a:r>
              <a:rPr>
                <a:solidFill>
                  <a:srgbClr val="E2E8F0"/>
                </a:solidFill>
                <a:latin typeface="Helvetica Neue"/>
              </a:rPr>
              <a:t> retención · </a:t>
            </a:r>
            <a:r>
              <a:rPr b="1">
                <a:solidFill>
                  <a:srgbClr val="FBBF24"/>
                </a:solidFill>
                <a:latin typeface="Helvetica Neue"/>
              </a:rPr>
              <a:t>1002</a:t>
            </a:r>
            <a:r>
              <a:rPr>
                <a:solidFill>
                  <a:srgbClr val="E2E8F0"/>
                </a:solidFill>
                <a:latin typeface="Helvetica Neue"/>
              </a:rPr>
              <a:t> refresh cagg · </a:t>
            </a:r>
            <a:r>
              <a:rPr b="1">
                <a:solidFill>
                  <a:srgbClr val="FBBF24"/>
                </a:solidFill>
                <a:latin typeface="Helvetica Neue"/>
              </a:rPr>
              <a:t>1004</a:t>
            </a:r>
            <a:r>
              <a:rPr>
                <a:solidFill>
                  <a:srgbClr val="E2E8F0"/>
                </a:solidFill>
                <a:latin typeface="Helvetica Neue"/>
              </a:rPr>
              <a:t> KPI custom.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El pipeline completo: </a:t>
            </a:r>
            <a:r>
              <a:rPr b="1">
                <a:solidFill>
                  <a:srgbClr val="FBBF24"/>
                </a:solidFill>
                <a:latin typeface="Helvetica Neue"/>
              </a:rPr>
              <a:t>comprimo lo viejo, agrego a mitad de camino y borro lo caducado — sin que nadie se acuerde</a:t>
            </a:r>
            <a:r>
              <a:rPr>
                <a:solidFill>
                  <a:srgbClr val="FBBF24"/>
                </a:solidFill>
                <a:latin typeface="Helvetica Neue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telemetría que era un vertedero de números se convierte en un pipeline que decide por ti.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LO QUE NOS LLEVAMOS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25 minutos para ver cómo PostgreSQL no tiene miedo al volumen.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Comprimir</a:t>
            </a:r>
            <a:r>
              <a:rPr>
                <a:solidFill>
                  <a:srgbClr val="E2E8F0"/>
                </a:solidFill>
                <a:latin typeface="Helvetica Neue"/>
              </a:rPr>
              <a:t> casi sin esfuerzo: 56 → 17 MB por chunk, lossless.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Leer 1 de 1.500 chunks</a:t>
            </a:r>
            <a:r>
              <a:rPr>
                <a:solidFill>
                  <a:srgbClr val="E2E8F0"/>
                </a:solidFill>
                <a:latin typeface="Helvetica Neue"/>
              </a:rPr>
              <a:t> cuando filtras por tiempo (pruning) y agregados precalculados ~10× menos I/O.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Automatizar el ciclo de vida</a:t>
            </a:r>
            <a:r>
              <a:rPr>
                <a:solidFill>
                  <a:srgbClr val="E2E8F0"/>
                </a:solidFill>
                <a:latin typeface="Helvetica Neue"/>
              </a:rPr>
              <a:t>: compresión, retención, refresco y cualquier procedimiento con 4 líneas.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Y aun así: sigue siendo PostgreSQL. </a:t>
            </a:r>
            <a:r>
              <a:rPr sz="1600" b="1">
                <a:solidFill>
                  <a:srgbClr val="7DD3FC"/>
                </a:solidFill>
                <a:latin typeface="Helvetica Neue"/>
              </a:rPr>
              <a:t>EXPLAIN</a:t>
            </a:r>
            <a:r>
              <a:rPr>
                <a:solidFill>
                  <a:srgbClr val="E2E8F0"/>
                </a:solidFill>
                <a:latin typeface="Helvetica Neue"/>
              </a:rPr>
              <a:t>, catálogo abierto, tuning estándar.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32120"/>
            <a:ext cx="11064240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7315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Arquitecto IT · javier.aragon.diaz@gmail.com · linkedin.com/in/javieraragondiaz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Repo con los scripts de esta demo: github.com/xavipuerto/autometrics-demo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576072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"Con los datos tengo la pregunta clara: ¿qué me están contando?"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