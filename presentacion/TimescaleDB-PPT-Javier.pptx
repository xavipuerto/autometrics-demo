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PRUEBA TÉCNICA · SERIES TEMPORALES SOBRE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971800"/>
            <a:ext cx="2011680" cy="5029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E7490"/>
                </a:solidFill>
                <a:latin typeface="Helvetica Neue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De la telemetría de una flota de coches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Javier Aragón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Arquitecto IT  ·  Idrica · Xylem  ·  javier.aragon.diaz@gmail.com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¿Quién os habla?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7315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Javier Aragón</a:t>
            </a:r>
            <a:r>
              <a:rPr>
                <a:solidFill>
                  <a:srgbClr val="1F2937"/>
                </a:solidFill>
                <a:latin typeface="Helvetica Neue"/>
              </a:rPr>
              <a:t> — arquitecto IT.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0E7490"/>
                </a:solidFill>
                <a:latin typeface="Helvetica Neue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javier.aragon.diaz@gmail.com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Actualmente en </a:t>
            </a:r>
            <a:r>
              <a:rPr b="1">
                <a:solidFill>
                  <a:srgbClr val="B45309"/>
                </a:solidFill>
                <a:latin typeface="Helvetica Neue"/>
              </a:rPr>
              <a:t>Idrica · Xylem</a:t>
            </a:r>
            <a:r>
              <a:rPr>
                <a:solidFill>
                  <a:srgbClr val="1F2937"/>
                </a:solidFill>
                <a:latin typeface="Helvetica Neue"/>
              </a:rPr>
              <a:t>, en proyectos internacionales.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Y cada vez me siento más junior.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El viaje: 12 apartados técnicos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01   Hypertables y chunks — la tabla lógica y el trozo físico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02   Dimensionado de chunks — 1 día (mal) vs 3 días (bien)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03   Compresión nativa — rowstore → columnstore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04   Insertar en un chunk comprimido — el overflow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05   Política de compresión — el trabajo en segundo plano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06   Pruning — el filtro entra en 1 de 1.500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01   Retención / autopurga — el historial se borra solo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02   time_bucket — downsampling 240 → 24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03   Continuous aggregates — el resumen precalculado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04   Jobs personalizados — Timescale como cron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05   Tuning de parámetros — Timescale + PostgreSQL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06   El círculo de la telemetría — resumen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Todas las cifras salen de la recreación del entorno desde cero (sept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TimescaleDB: el dato de serie temporal nativo de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Es una </a:t>
            </a:r>
            <a:r>
              <a:rPr b="1">
                <a:solidFill>
                  <a:srgbClr val="B45309"/>
                </a:solidFill>
                <a:latin typeface="Helvetica Neue"/>
              </a:rPr>
              <a:t>extensión de PostgreSQL</a:t>
            </a:r>
            <a:r>
              <a:rPr>
                <a:solidFill>
                  <a:srgbClr val="1F2937"/>
                </a:solidFill>
                <a:latin typeface="Helvetica Neue"/>
              </a:rPr>
              <a:t> (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CREATE EXTENSION timescaledb;</a:t>
            </a:r>
            <a:r>
              <a:rPr>
                <a:solidFill>
                  <a:srgbClr val="1F2937"/>
                </a:solidFill>
                <a:latin typeface="Helvetica Neue"/>
              </a:rPr>
              <a:t>), no un motor aparte: SQL,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EXPLAIN</a:t>
            </a:r>
            <a:r>
              <a:rPr>
                <a:solidFill>
                  <a:srgbClr val="1F2937"/>
                </a:solidFill>
                <a:latin typeface="Helvetica Neue"/>
              </a:rPr>
              <a:t> y catálogo son los de siempre.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Cubre la necesidad que nos trae aquí: </a:t>
            </a:r>
            <a:r>
              <a:rPr b="1">
                <a:solidFill>
                  <a:srgbClr val="B45309"/>
                </a:solidFill>
                <a:latin typeface="Helvetica Neue"/>
              </a:rPr>
              <a:t>lecturas que llegan sin parar</a:t>
            </a:r>
            <a:r>
              <a:rPr>
                <a:solidFill>
                  <a:srgbClr val="1F2937"/>
                </a:solidFill>
                <a:latin typeface="Helvetica Neue"/>
              </a:rPr>
              <a:t> — IoT, telemetría de flota, métricas, datos financieros — que hay que guardar, consultar por ventanas de tiempo y ordenar su ciclo de vida.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Y lo hace </a:t>
            </a:r>
            <a:r>
              <a:rPr b="1">
                <a:solidFill>
                  <a:srgbClr val="B45309"/>
                </a:solidFill>
                <a:latin typeface="Helvetica Neue"/>
              </a:rPr>
              <a:t>sin cambiar de base de datos</a:t>
            </a:r>
            <a:r>
              <a:rPr>
                <a:solidFill>
                  <a:srgbClr val="1F2937"/>
                </a:solidFill>
                <a:latin typeface="Helvetica Neue"/>
              </a:rPr>
              <a:t>: si ya usas PostgreSQL, lo añades y ya.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¿Y probarlo en la nube sin instalar nada? </a:t>
            </a:r>
            <a:r>
              <a:rPr b="1">
                <a:solidFill>
                  <a:srgbClr val="B45309"/>
                </a:solidFill>
                <a:latin typeface="Helvetica Neue"/>
              </a:rPr>
              <a:t>Tiger Cloud</a:t>
            </a:r>
            <a:r>
              <a:rPr>
                <a:solidFill>
                  <a:srgbClr val="1F2937"/>
                </a:solidFill>
                <a:latin typeface="Helvetica Neue"/>
              </a:rPr>
              <a:t> — la plataforma gestionada de la compañía (hoy *TigerData*) — provisiona un PostgreSQL + TimescaleDB en minutos, con </a:t>
            </a:r>
            <a:r>
              <a:rPr b="1">
                <a:solidFill>
                  <a:srgbClr val="B45309"/>
                </a:solidFill>
                <a:latin typeface="Helvetica Neue"/>
              </a:rPr>
              <a:t>30 días de prueba gratis sin tarjeta</a:t>
            </a:r>
            <a:r>
              <a:rPr>
                <a:solidFill>
                  <a:srgbClr val="1F2937"/>
                </a:solidFill>
                <a:latin typeface="Helvetica Neue"/>
              </a:rPr>
              <a:t>. Esta misma demo corre ahí igual.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31546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Lo que aporta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Hipertables: una tabla lógica, particiones por tiempo por dentro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Compresión nativa de los bloques viejos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Agregados continuos precalculados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Retención y autopurga del histórico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Jobs de fondo con cualquier SQL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Y por debajo, el PostgreSQL que ya conoces.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Mismo SQL, mismo EXPLAIN, mismo catálogo: la diferencia es lo que el motor hace con las tablas por dentro — local o en la nube.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01_ddl.sql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Hypertables y chunks: la tabla lógica y el trozo físico por franja de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05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Hypertable</a:t>
            </a:r>
            <a:r>
              <a:rPr>
                <a:solidFill>
                  <a:srgbClr val="1F2937"/>
                </a:solidFill>
                <a:latin typeface="Helvetica Neue"/>
              </a:rPr>
              <a:t>: la tabla que tu SQL ve (la misma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CREATE TABLE</a:t>
            </a:r>
            <a:r>
              <a:rPr>
                <a:solidFill>
                  <a:srgbClr val="1F2937"/>
                </a:solidFill>
                <a:latin typeface="Helvetica Neue"/>
              </a:rPr>
              <a:t>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Chunk</a:t>
            </a:r>
            <a:r>
              <a:rPr>
                <a:solidFill>
                  <a:srgbClr val="1F2937"/>
                </a:solidFill>
                <a:latin typeface="Helvetica Neue"/>
              </a:rPr>
              <a:t>: cada partición temporal es una tabla física escondida en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_timescaledb_internal</a:t>
            </a:r>
            <a:r>
              <a:rPr>
                <a:solidFill>
                  <a:srgbClr val="1F2937"/>
                </a:solidFill>
                <a:latin typeface="Helvetica Neue"/>
              </a:rPr>
              <a:t> (o en tu esquema).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El particionado lo decide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chunk_time_interval</a:t>
            </a:r>
            <a:r>
              <a:rPr>
                <a:solidFill>
                  <a:srgbClr val="1F2937"/>
                </a:solidFill>
                <a:latin typeface="Helvetica Neue"/>
              </a:rPr>
              <a:t>: nosotros usamos </a:t>
            </a:r>
            <a:r>
              <a:rPr b="1">
                <a:solidFill>
                  <a:srgbClr val="B45309"/>
                </a:solidFill>
                <a:latin typeface="Helvetica Neue"/>
              </a:rPr>
              <a:t>1 día</a:t>
            </a:r>
            <a:r>
              <a:rPr>
                <a:solidFill>
                  <a:srgbClr val="1F2937"/>
                </a:solidFill>
                <a:latin typeface="Helvetica Neue"/>
              </a:rPr>
              <a:t> en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vehiculos_ts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7680960" cy="1490472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7223760" cy="1216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create_hypertable('vehiculos_ts', 'ts',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chunk_time_interval =&gt; INTERVAL '1 day');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-- Con associated_schema_name =&gt; 'particiones' los chunks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-- viven en tu esquema con nombre derivado: vehiculos_part_*_chunk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320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Resultado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Para tu SQL es la misma tabla de siempre; por dentro, cada franja de tiempo es un trozo físico.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A dónde viven y cómo se llaman los chunks lo decide Timescale: </a:t>
            </a:r>
            <a:r>
              <a:rPr sz="1200" b="1">
                <a:solidFill>
                  <a:srgbClr val="0E7490"/>
                </a:solidFill>
                <a:latin typeface="Helvetica Neue"/>
              </a:rPr>
              <a:t>vehiculos_part_*_chunk</a:t>
            </a:r>
            <a:r>
              <a:rPr>
                <a:solidFill>
                  <a:srgbClr val="6B7280"/>
                </a:solidFill>
                <a:latin typeface="Helvetica Neue"/>
              </a:rPr>
              <a:t> en tu esquema, </a:t>
            </a:r>
            <a:r>
              <a:rPr sz="1200" b="1">
                <a:solidFill>
                  <a:srgbClr val="0E7490"/>
                </a:solidFill>
                <a:latin typeface="Helvetica Neue"/>
              </a:rPr>
              <a:t>_hyper_*</a:t>
            </a:r>
            <a:r>
              <a:rPr>
                <a:solidFill>
                  <a:srgbClr val="6B7280"/>
                </a:solidFill>
                <a:latin typeface="Helvetica Neue"/>
              </a:rPr>
              <a:t> por defecto.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Ver los chunks: </a:t>
            </a:r>
            <a:r>
              <a:rPr sz="1100" b="1">
                <a:solidFill>
                  <a:srgbClr val="0E7490"/>
                </a:solidFill>
                <a:latin typeface="Helvetica Neue"/>
              </a:rPr>
              <a:t>timescaledb_information.chunks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02_grande.sql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Dimensionar el chunk: la decisión que marca la diferencia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06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Trocear muy fino dispara el </a:t>
            </a:r>
            <a:r>
              <a:rPr b="1">
                <a:solidFill>
                  <a:srgbClr val="B45309"/>
                </a:solidFill>
                <a:latin typeface="Helvetica Neue"/>
              </a:rPr>
              <a:t>overhead por chunk</a:t>
            </a:r>
            <a:r>
              <a:rPr>
                <a:solidFill>
                  <a:srgbClr val="1F2937"/>
                </a:solidFill>
                <a:latin typeface="Helvetica Neue"/>
              </a:rPr>
              <a:t>: cada trozo físico es una tabla, con sus metadatos, índices y páginas propias — más trozos, más gasto fijo.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</a:t>
            </a:r>
            <a:r>
              <a:rPr b="1">
                <a:solidFill>
                  <a:srgbClr val="B45309"/>
                </a:solidFill>
                <a:latin typeface="Helvetica Neue"/>
              </a:rPr>
              <a:t>Regla práctica</a:t>
            </a:r>
            <a:r>
              <a:rPr>
                <a:solidFill>
                  <a:srgbClr val="1F2937"/>
                </a:solidFill>
                <a:latin typeface="Helvetica Neue"/>
              </a:rPr>
              <a:t>: un chunk debe cubrir ~</a:t>
            </a:r>
            <a:r>
              <a:rPr b="1">
                <a:solidFill>
                  <a:srgbClr val="B45309"/>
                </a:solidFill>
                <a:latin typeface="Helvetica Neue"/>
              </a:rPr>
              <a:t>10-20 min de tu buffer target</a:t>
            </a:r>
            <a:r>
              <a:rPr>
                <a:solidFill>
                  <a:srgbClr val="1F2937"/>
                </a:solidFill>
                <a:latin typeface="Helvetica Neue"/>
              </a:rPr>
              <a:t> de ingesta constante; menos chunks y más grandes reducen ese gasto.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La demo juega con ambos a propósito: el "mal dimensionado" (un chunk por día) y el "correcto" (tres días por chunk) nos sirven para ver el efecto en el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5740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331720"/>
            <a:ext cx="3154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Para la telemetría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Un chunk debe cubrir ~10-20 min de la ingesta constante que quepa en tus buffers.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En flota: una franja de 3 días por chunk da chunks con oficio.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03_compresion.sql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Compresión nativa: la tabla fila se convierte en columnas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07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7315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Cada chunk comprimido pasa a ser un </a:t>
            </a:r>
            <a:r>
              <a:rPr b="1">
                <a:solidFill>
                  <a:srgbClr val="B45309"/>
                </a:solidFill>
                <a:latin typeface="Helvetica Neue"/>
              </a:rPr>
              <a:t>columnstore</a:t>
            </a:r>
            <a:r>
              <a:rPr>
                <a:solidFill>
                  <a:srgbClr val="1F2937"/>
                </a:solidFill>
                <a:latin typeface="Helvetica Neue"/>
              </a:rPr>
              <a:t> (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..._chunk_compressed</a:t>
            </a:r>
            <a:r>
              <a:rPr>
                <a:solidFill>
                  <a:srgbClr val="1F2937"/>
                </a:solidFill>
                <a:latin typeface="Helvetica Neue"/>
              </a:rPr>
              <a:t>) y es </a:t>
            </a:r>
            <a:r>
              <a:rPr b="1">
                <a:solidFill>
                  <a:srgbClr val="B45309"/>
                </a:solidFill>
                <a:latin typeface="Helvetica Neue"/>
              </a:rPr>
              <a:t>lossless</a:t>
            </a:r>
            <a:r>
              <a:rPr>
                <a:solidFill>
                  <a:srgbClr val="1F2937"/>
                </a:solidFill>
                <a:latin typeface="Helvetica Neue"/>
              </a:rPr>
              <a:t> (pérdida cero):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count(*)</a:t>
            </a:r>
            <a:r>
              <a:rPr>
                <a:solidFill>
                  <a:srgbClr val="1F2937"/>
                </a:solidFill>
                <a:latin typeface="Helvetica Neue"/>
              </a:rPr>
              <a:t> se mantiene.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Algoritmo por defecto: Timescale lo elige solo al comprimir, </a:t>
            </a:r>
            <a:r>
              <a:rPr b="1">
                <a:solidFill>
                  <a:srgbClr val="B45309"/>
                </a:solidFill>
                <a:latin typeface="Helvetica Neue"/>
              </a:rPr>
              <a:t>según el tipo de cada columna</a:t>
            </a:r>
            <a:r>
              <a:rPr>
                <a:solidFill>
                  <a:srgbClr val="1F2937"/>
                </a:solidFill>
                <a:latin typeface="Helvetica Neue"/>
              </a:rPr>
              <a:t> (catálogo 2.30):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 sz="1300" b="1">
                <a:solidFill>
                  <a:srgbClr val="0E7490"/>
                </a:solidFill>
                <a:latin typeface="Helvetica Neue"/>
              </a:rPr>
              <a:t>DELTADELTA</a:t>
            </a:r>
            <a:r>
              <a:rPr>
                <a:solidFill>
                  <a:srgbClr val="1F2937"/>
                </a:solidFill>
                <a:latin typeface="Helvetica Neue"/>
              </a:rPr>
              <a:t> + simple-8b + RLE → enteros y timestamps (el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ts</a:t>
            </a:r>
            <a:r>
              <a:rPr>
                <a:solidFill>
                  <a:srgbClr val="1F2937"/>
                </a:solidFill>
                <a:latin typeface="Helvetica Neue"/>
              </a:rPr>
              <a:t> pasa de 64 bits a ~1)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 sz="1300" b="1">
                <a:solidFill>
                  <a:srgbClr val="0E7490"/>
                </a:solidFill>
                <a:latin typeface="Helvetica Neue"/>
              </a:rPr>
              <a:t>GORILLA</a:t>
            </a:r>
            <a:r>
              <a:rPr>
                <a:solidFill>
                  <a:srgbClr val="1F2937"/>
                </a:solidFill>
                <a:latin typeface="Helvetica Neue"/>
              </a:rPr>
              <a:t> (XOR) → flotantes: velocidad, presiones, temperaturas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 sz="1300" b="1">
                <a:solidFill>
                  <a:srgbClr val="0E7490"/>
                </a:solidFill>
                <a:latin typeface="Helvetica Neue"/>
              </a:rPr>
              <a:t>DICTIONARY</a:t>
            </a:r>
            <a:r>
              <a:rPr>
                <a:solidFill>
                  <a:srgbClr val="1F2937"/>
                </a:solidFill>
                <a:latin typeface="Helvetica Neue"/>
              </a:rPr>
              <a:t> → baja cardinalidad: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auto_id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 sz="1300" b="1">
                <a:solidFill>
                  <a:srgbClr val="0E7490"/>
                </a:solidFill>
                <a:latin typeface="Helvetica Neue"/>
              </a:rPr>
              <a:t>BOOL</a:t>
            </a:r>
            <a:r>
              <a:rPr>
                <a:solidFill>
                  <a:srgbClr val="1F2937"/>
                </a:solidFill>
                <a:latin typeface="Helvetica Neue"/>
              </a:rPr>
              <a:t> /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UUID</a:t>
            </a:r>
            <a:r>
              <a:rPr>
                <a:solidFill>
                  <a:srgbClr val="1F2937"/>
                </a:solidFill>
                <a:latin typeface="Helvetica Neue"/>
              </a:rPr>
              <a:t> → bools e ids;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ARRAY</a:t>
            </a:r>
            <a:r>
              <a:rPr>
                <a:solidFill>
                  <a:srgbClr val="1F2937"/>
                </a:solidFill>
                <a:latin typeface="Helvetica Neue"/>
              </a:rPr>
              <a:t> solo para filtros/índices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Tú no pides el algoritmo (solo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segmentby</a:t>
            </a:r>
            <a:r>
              <a:rPr>
                <a:solidFill>
                  <a:srgbClr val="1F2937"/>
                </a:solidFill>
                <a:latin typeface="Helvetica Neue"/>
              </a:rPr>
              <a:t>/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orderby</a:t>
            </a:r>
            <a:r>
              <a:rPr>
                <a:solidFill>
                  <a:srgbClr val="1F2937"/>
                </a:solidFill>
                <a:latin typeface="Helvetica Neue"/>
              </a:rPr>
              <a:t>):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timescaledb_information.compression_settings</a:t>
            </a:r>
            <a:r>
              <a:rPr>
                <a:solidFill>
                  <a:srgbClr val="1F2937"/>
                </a:solidFill>
                <a:latin typeface="Helvetica Neue"/>
              </a:rPr>
              <a:t> muestra lo aplicado.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Contrapartida: escribir sobre columna comprimida es más caro → por eso solo se comprime lo </a:t>
            </a:r>
            <a:r>
              <a:rPr b="1">
                <a:solidFill>
                  <a:srgbClr val="B45309"/>
                </a:solidFill>
                <a:latin typeface="Helvetica Neue"/>
              </a:rPr>
              <a:t>viejo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2402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Resultado medido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56 MB → 17 MB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por chunk · −70 % · ×3,3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Doc Timescale: hasta 90-95 % en casos típicos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SQL habitado: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ALTER TABLE vehiculos_grande SET (timescaledb.compress, segmentby='auto_id', orderby='ts DESC');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03_compresion.sql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vehiculos_grande: 3 chunks de 3 días, 2 comprimidos y 1 de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08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64240" cy="3291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769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Chunk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107692"/>
            <a:ext cx="243596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Ventana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9481" y="2107692"/>
            <a:ext cx="12188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7832" y="2107692"/>
            <a:ext cx="12188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Después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6184" y="2107692"/>
            <a:ext cx="8869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Comprimido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86584"/>
            <a:ext cx="11064240" cy="32918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464308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3001 (en otra recreación: 6003)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2464308"/>
            <a:ext cx="243596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2026-09-13 → 09-16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9481" y="2464308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56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7832" y="2464308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17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6184" y="2464308"/>
            <a:ext cx="886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sí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715768"/>
            <a:ext cx="11064240" cy="32918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793491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3002 (… 6004)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2793491"/>
            <a:ext cx="243596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2026-09-16 → 09-19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9481" y="2793491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56 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7832" y="2793491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17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6184" y="2793491"/>
            <a:ext cx="886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sí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044951"/>
            <a:ext cx="11064240" cy="32918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122675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3003 (… 6005) ·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3122675"/>
            <a:ext cx="2435961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2026-09-19 → 09-22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39481" y="3122675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56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7832" y="3122675"/>
            <a:ext cx="121889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56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16184" y="3122675"/>
            <a:ext cx="886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06908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Los datos se </a:t>
            </a:r>
            <a:r>
              <a:rPr b="1">
                <a:solidFill>
                  <a:srgbClr val="B45309"/>
                </a:solidFill>
                <a:latin typeface="Helvetica Neue"/>
              </a:rPr>
              <a:t>leen igual pero desde el columnstore</a:t>
            </a:r>
            <a:r>
              <a:rPr>
                <a:solidFill>
                  <a:srgbClr val="1F2937"/>
                </a:solidFill>
                <a:latin typeface="Helvetica Neue"/>
              </a:rPr>
              <a:t>; la tabla fila del chunk queda a ~0 bytes.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Tamaños calculados con </a:t>
            </a:r>
            <a:r>
              <a:rPr sz="1400" b="1">
                <a:solidFill>
                  <a:srgbClr val="0E7490"/>
                </a:solidFill>
                <a:latin typeface="Helvetica Neue"/>
              </a:rPr>
              <a:t>pg_total_relation_size(chunk)</a:t>
            </a:r>
            <a:r>
              <a:rPr>
                <a:solidFill>
                  <a:srgbClr val="1F2937"/>
                </a:solidFill>
                <a:latin typeface="Helvetica Neue"/>
              </a:rPr>
              <a:t> — incluye índices y el almacenamiento comprimido.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Los nombres de chunk </a:t>
            </a:r>
            <a:r>
              <a:rPr b="1">
                <a:solidFill>
                  <a:srgbClr val="B45309"/>
                </a:solidFill>
                <a:latin typeface="Helvetica Neue"/>
              </a:rPr>
              <a:t>cambian en cada recreación</a:t>
            </a:r>
            <a:r>
              <a:rPr>
                <a:solidFill>
                  <a:srgbClr val="1F2937"/>
                </a:solidFill>
                <a:latin typeface="Helvetica Neue"/>
              </a:rPr>
              <a:t>: </a:t>
            </a:r>
            <a:r>
              <a:rPr sz="1400" b="1">
                <a:solidFill>
                  <a:srgbClr val="0E7490"/>
                </a:solidFill>
                <a:latin typeface="Helvetica Neue"/>
              </a:rPr>
              <a:t>3001</a:t>
            </a:r>
            <a:r>
              <a:rPr>
                <a:solidFill>
                  <a:srgbClr val="1F2937"/>
                </a:solidFill>
                <a:latin typeface="Helvetica Neue"/>
              </a:rPr>
              <a:t> aquí, </a:t>
            </a:r>
            <a:r>
              <a:rPr sz="1400" b="1">
                <a:solidFill>
                  <a:srgbClr val="0E7490"/>
                </a:solidFill>
                <a:latin typeface="Helvetica Neue"/>
              </a:rPr>
              <a:t>6003</a:t>
            </a:r>
            <a:r>
              <a:rPr>
                <a:solidFill>
                  <a:srgbClr val="1F2937"/>
                </a:solidFill>
                <a:latin typeface="Helvetica Neue"/>
              </a:rPr>
              <a:t> en otra pasada. Se resuelven por rango, no por nombre.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El tercer chunk queda </a:t>
            </a:r>
            <a:r>
              <a:rPr b="1">
                <a:solidFill>
                  <a:srgbClr val="B45309"/>
                </a:solidFill>
                <a:latin typeface="Helvetica Neue"/>
              </a:rPr>
              <a:t>sin comprimir a propósito</a:t>
            </a:r>
            <a:r>
              <a:rPr>
                <a:solidFill>
                  <a:srgbClr val="1F2937"/>
                </a:solidFill>
                <a:latin typeface="Helvetica Neue"/>
              </a:rPr>
              <a:t> para comparar en directo.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321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1.555.200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179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filas siguen ahí tras comprimir (count intacto)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04_insert_chunk_comprimido.sql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¿Insertar en un chunk ya comprimido? Sí, y sin descomprimir 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09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Mito a corregir</a:t>
            </a:r>
            <a:r>
              <a:rPr>
                <a:solidFill>
                  <a:srgbClr val="1F2937"/>
                </a:solidFill>
                <a:latin typeface="Helvetica Neue"/>
              </a:rPr>
              <a:t>: "Timescale descomprime y recompresa en cada INSERT" → </a:t>
            </a:r>
            <a:r>
              <a:rPr b="1">
                <a:solidFill>
                  <a:srgbClr val="B45309"/>
                </a:solidFill>
                <a:latin typeface="Helvetica Neue"/>
              </a:rPr>
              <a:t>falso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Las filas nuevas van a un </a:t>
            </a:r>
            <a:r>
              <a:rPr b="1">
                <a:solidFill>
                  <a:srgbClr val="B45309"/>
                </a:solidFill>
                <a:latin typeface="Helvetica Neue"/>
              </a:rPr>
              <a:t>overflow rowstore</a:t>
            </a:r>
            <a:r>
              <a:rPr>
                <a:solidFill>
                  <a:srgbClr val="1F2937"/>
                </a:solidFill>
                <a:latin typeface="Helvetica Neue"/>
              </a:rPr>
              <a:t> del chunk: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is_compressed</a:t>
            </a:r>
            <a:r>
              <a:rPr>
                <a:solidFill>
                  <a:srgbClr val="1F2937"/>
                </a:solidFill>
                <a:latin typeface="Helvetica Neue"/>
              </a:rPr>
              <a:t> sigue a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t</a:t>
            </a:r>
            <a:r>
              <a:rPr>
                <a:solidFill>
                  <a:srgbClr val="1F2937"/>
                </a:solidFill>
                <a:latin typeface="Helvetica Neue"/>
              </a:rPr>
              <a:t> pero el chunk </a:t>
            </a:r>
            <a:r>
              <a:rPr b="1">
                <a:solidFill>
                  <a:srgbClr val="B45309"/>
                </a:solidFill>
                <a:latin typeface="Helvetica Neue"/>
              </a:rPr>
              <a:t>crece</a:t>
            </a:r>
            <a:r>
              <a:rPr>
                <a:solidFill>
                  <a:srgbClr val="1F2937"/>
                </a:solidFill>
                <a:latin typeface="Helvetica Neue"/>
              </a:rPr>
              <a:t> (8192 B → 24 kB con 10 filas).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El merge con el columnstore llega al </a:t>
            </a:r>
            <a:r>
              <a:rPr b="1">
                <a:solidFill>
                  <a:srgbClr val="B45309"/>
                </a:solidFill>
                <a:latin typeface="Helvetica Neue"/>
              </a:rPr>
              <a:t>recomprimir</a:t>
            </a:r>
            <a:r>
              <a:rPr>
                <a:solidFill>
                  <a:srgbClr val="1F2937"/>
                </a:solidFill>
                <a:latin typeface="Helvetica Neue"/>
              </a:rPr>
              <a:t>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compress_chunk()</a:t>
            </a:r>
            <a:r>
              <a:rPr>
                <a:solidFill>
                  <a:srgbClr val="1F2937"/>
                </a:solidFill>
                <a:latin typeface="Helvetica Neue"/>
              </a:rPr>
              <a:t> o la política de compresión en segundo plano.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Medidas (2026-09):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lote de 5 filas → 5,6 ms  ·  5 individuales → ~0,5 ms c/u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1M en un INSERT → 3,5 s (~285 000 filas/s)  ·  pgbench fila-a-fila → 4.697 tps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Recomendación: </a:t>
            </a:r>
            <a:r>
              <a:rPr b="1">
                <a:solidFill>
                  <a:srgbClr val="B45309"/>
                </a:solidFill>
                <a:latin typeface="Helvetica Neue"/>
              </a:rPr>
              <a:t>lotes de ≥1000 filas o `COPY`</a:t>
            </a:r>
            <a:r>
              <a:rPr>
                <a:solidFill>
                  <a:srgbClr val="B45309"/>
                </a:solidFill>
                <a:latin typeface="Helvetica Neue"/>
              </a:rPr>
              <a:t>; deja que la política reabsorba el overflow.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6596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194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SELECT * FROM chunk…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overflow + columnstore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= lo que lee toda consulta de ese 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Backfill puntual en chunk viejo: fuerza luego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compress_chunk</a:t>
            </a:r>
            <a:r>
              <a:rPr>
                <a:solidFill>
                  <a:srgbClr val="6B7280"/>
                </a:solidFill>
                <a:latin typeface="Helvetica Neue"/>
              </a:rPr>
              <a:t> sobre ese chunk y duerme tranquilo con la política.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05_compresion_politica.sql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La política de compresión: se ocupa de todo sola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10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7680960" cy="178308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48840"/>
            <a:ext cx="72237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add_compression_policy('vehiculos_grande',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compress_after    =&gt; INTERVAL '24 hours',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schedule_interval =&gt; INTERVAL '24 hours');  -- el id lo asigna Timescale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CALL run_job(&lt;job_id&gt;);       -- forzarlo a mano (procedimiento)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alter_job(&lt;job_id&gt;, scheduled =&gt; false);     -- pausar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remove_compression_policy('vehiculos_grande'); -- borrar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Cada </a:t>
            </a:r>
            <a:r>
              <a:rPr b="1">
                <a:solidFill>
                  <a:srgbClr val="B45309"/>
                </a:solidFill>
                <a:latin typeface="Helvetica Neue"/>
              </a:rPr>
              <a:t>24 h</a:t>
            </a:r>
            <a:r>
              <a:rPr>
                <a:solidFill>
                  <a:srgbClr val="1F2937"/>
                </a:solidFill>
                <a:latin typeface="Helvetica Neue"/>
              </a:rPr>
              <a:t> comprime/recomprime todo chunk cuyo rango terminó hace </a:t>
            </a:r>
            <a:r>
              <a:rPr b="1">
                <a:solidFill>
                  <a:srgbClr val="B45309"/>
                </a:solidFill>
                <a:latin typeface="Helvetica Neue"/>
              </a:rPr>
              <a:t>&gt;24 h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</a:t>
            </a:r>
            <a:r>
              <a:rPr b="1">
                <a:solidFill>
                  <a:srgbClr val="B45309"/>
                </a:solidFill>
                <a:latin typeface="Helvetica Neue"/>
              </a:rPr>
              <a:t>Reabsorbe el overflow</a:t>
            </a:r>
            <a:r>
              <a:rPr>
                <a:solidFill>
                  <a:srgbClr val="1F2937"/>
                </a:solidFill>
                <a:latin typeface="Helvetica Neue"/>
              </a:rPr>
              <a:t> del rowstore al columnstore sin intervención manual.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</a:t>
            </a:r>
            <a:r>
              <a:rPr b="1">
                <a:solidFill>
                  <a:srgbClr val="B45309"/>
                </a:solidFill>
                <a:latin typeface="Helvetica Neue"/>
              </a:rPr>
              <a:t>Respeta el chunk activo</a:t>
            </a:r>
            <a:r>
              <a:rPr>
                <a:solidFill>
                  <a:srgbClr val="1F2937"/>
                </a:solidFill>
                <a:latin typeface="Helvetica Neue"/>
              </a:rPr>
              <a:t>: nunca toca la ventana reciente (por eso el chunk de control sigue sin comprimir).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job_stats</a:t>
            </a:r>
            <a:r>
              <a:rPr>
                <a:solidFill>
                  <a:srgbClr val="1F2937"/>
                </a:solidFill>
                <a:latin typeface="Helvetica Neue"/>
              </a:rPr>
              <a:t> /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job_history</a:t>
            </a:r>
            <a:r>
              <a:rPr>
                <a:solidFill>
                  <a:srgbClr val="1F2937"/>
                </a:solidFill>
                <a:latin typeface="Helvetica Neue"/>
              </a:rPr>
              <a:t> muestran la ejecución en vivo: éxito, tiempos, siguiente arranque.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429000" cy="2148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28600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Estado probado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Éxito (Success)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arrancó al crearse y vuelve cada 24 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Speech: "si no te convence, lo quitas en una línea"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07_explain_queries.sql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Pruning: el filtro temporal entra directo en el chunk que toca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11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1064240" cy="3291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769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Consulta (mismo filtro 1 día)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107692"/>
            <a:ext cx="354238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5905" y="2107692"/>
            <a:ext cx="26572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86584"/>
            <a:ext cx="11064240" cy="32918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4308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vehiculos_ts + ts (hypertable 1d)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464308"/>
            <a:ext cx="354238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Seq Scan → 1 solo 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5905" y="2464308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0,09 ms · 3 buffers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15768"/>
            <a:ext cx="11064240" cy="32918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93491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vehiculos_ts + ts 30 días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793491"/>
            <a:ext cx="354238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Append con ~30 partner aggregates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5905" y="2793491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1,5 ms · 90 buffers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1"/>
            <a:ext cx="11064240" cy="329184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122675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vehiculos_plana (sin Timescale)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3122675"/>
            <a:ext cx="354238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Parallel Seq Scan toda la tabla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905" y="3122675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20,5 ms · 4.440 buffers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74135"/>
            <a:ext cx="11064240" cy="32918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451859"/>
            <a:ext cx="42062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vehiculos_grande (comprimida)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3451859"/>
            <a:ext cx="354238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ColumnarIndexScan en columnstore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5905" y="3451859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filtra y agrega en compresión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6908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“El peor caso de la tabla plana es el caso normal de Timescale”</a:t>
            </a:r>
            <a:r>
              <a:rPr>
                <a:solidFill>
                  <a:srgbClr val="1F2937"/>
                </a:solidFill>
                <a:latin typeface="Helvetica Neue"/>
              </a:rPr>
              <a:t>: la misma consulta mueve 4.440 buffers en plana y 3 en la hypertable.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E7490"/>
                </a:solidFill>
                <a:latin typeface="Menlo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EXPLAIN (COSTS OFF) SELECT … FROM vehiculos_ts WHERE ts &gt;= '2026-05-15' AND ts &lt; '2026-05-16';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Nota rigurosa: tamaños y tiempos medidos tal cual en el laboratorio. No afirmamos “228× más lento” sin un benchmark controlado.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09_retencion_autopurga.sql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Retención / autopurga: que lo viejo desaparezca solo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12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7680960" cy="146304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-- Manual, una vez: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drop_chunks('vehiculos_grande', older_than =&gt; now() - INTERVAL '5 days');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-- Automático: política de retención (se repite cada 24 h)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add_retention_policy('vehiculos_grande', drop_after =&gt; INTERVAL '5 days');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CALL run_job(&lt;job_id&gt;);   SELECT remove_retention_policy('vehiculos_grande');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Borra </a:t>
            </a:r>
            <a:r>
              <a:rPr b="1">
                <a:solidFill>
                  <a:srgbClr val="B45309"/>
                </a:solidFill>
                <a:latin typeface="Helvetica Neue"/>
              </a:rPr>
              <a:t>chunks completos</a:t>
            </a:r>
            <a:r>
              <a:rPr>
                <a:solidFill>
                  <a:srgbClr val="1F2937"/>
                </a:solidFill>
                <a:latin typeface="Helvetica Neue"/>
              </a:rPr>
              <a:t>, no filas: elimina el chunk cuando su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range_end</a:t>
            </a:r>
            <a:r>
              <a:rPr>
                <a:solidFill>
                  <a:srgbClr val="1F2937"/>
                </a:solidFill>
                <a:latin typeface="Helvetica Neue"/>
              </a:rPr>
              <a:t> queda antes de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now() - drop_after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En la demo: </a:t>
            </a:r>
            <a:r>
              <a:rPr b="1">
                <a:solidFill>
                  <a:srgbClr val="B45309"/>
                </a:solidFill>
                <a:latin typeface="Helvetica Neue"/>
              </a:rPr>
              <a:t>3 → 2 chunks</a:t>
            </a:r>
            <a:r>
              <a:rPr>
                <a:solidFill>
                  <a:srgbClr val="1F2937"/>
                </a:solidFill>
                <a:latin typeface="Helvetica Neue"/>
              </a:rPr>
              <a:t>; la autopurga se llevó exactamente el más antiguo.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Compresión y retención son </a:t>
            </a:r>
            <a:r>
              <a:rPr b="1">
                <a:solidFill>
                  <a:srgbClr val="B45309"/>
                </a:solidFill>
                <a:latin typeface="Helvetica Neue"/>
              </a:rPr>
              <a:t>dos políticas que se complementan</a:t>
            </a:r>
            <a:r>
              <a:rPr>
                <a:solidFill>
                  <a:srgbClr val="1F2937"/>
                </a:solidFill>
                <a:latin typeface="Helvetica Neue"/>
              </a:rPr>
              <a:t>: comprimo lo viejo y, cuando pasa aún más tiempo, lo </a:t>
            </a:r>
            <a:r>
              <a:rPr b="1">
                <a:solidFill>
                  <a:srgbClr val="B45309"/>
                </a:solidFill>
                <a:latin typeface="Helvetica Neue"/>
              </a:rPr>
              <a:t>borro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794760"/>
            <a:ext cx="3429000" cy="14630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02336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En la charla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 i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“los datos se comprimen y al final de su vida útil, Timescale los borra sin que yo me acuerde”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10_time_bucket.sql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Downsampling: 240 lecturas sueltas → 24 medias horizontales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13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7680960" cy="1362456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22376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time_bucket('1 hour', ts) AS hora,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count(*)             AS lecturas,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round(avg(velocidad)::numeric,1) AS vel_media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FROM vehiculos_ts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GROUP BY 1 ORDER BY 1;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A diferencia de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date_trunc</a:t>
            </a:r>
            <a:r>
              <a:rPr>
                <a:solidFill>
                  <a:srgbClr val="1F2937"/>
                </a:solidFill>
                <a:latin typeface="Helvetica Neue"/>
              </a:rPr>
              <a:t>, alinea con una </a:t>
            </a:r>
            <a:r>
              <a:rPr b="1">
                <a:solidFill>
                  <a:srgbClr val="B45309"/>
                </a:solidFill>
                <a:latin typeface="Helvetica Neue"/>
              </a:rPr>
              <a:t>parrilla fija</a:t>
            </a:r>
            <a:r>
              <a:rPr>
                <a:solidFill>
                  <a:srgbClr val="1F2937"/>
                </a:solidFill>
                <a:latin typeface="Helvetica Neue"/>
              </a:rPr>
              <a:t>: sirve para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2 hours</a:t>
            </a:r>
            <a:r>
              <a:rPr>
                <a:solidFill>
                  <a:srgbClr val="1F2937"/>
                </a:solidFill>
                <a:latin typeface="Helvetica Neue"/>
              </a:rPr>
              <a:t>,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90 minutes</a:t>
            </a:r>
            <a:r>
              <a:rPr>
                <a:solidFill>
                  <a:srgbClr val="1F2937"/>
                </a:solidFill>
                <a:latin typeface="Helvetica Neue"/>
              </a:rPr>
              <a:t>, semanas… y series uniformes.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Resultado real (2026-05-15): </a:t>
            </a:r>
            <a:r>
              <a:rPr b="1">
                <a:solidFill>
                  <a:srgbClr val="B45309"/>
                </a:solidFill>
                <a:latin typeface="Helvetica Neue"/>
              </a:rPr>
              <a:t>24 filas</a:t>
            </a:r>
            <a:r>
              <a:rPr>
                <a:solidFill>
                  <a:srgbClr val="1F2937"/>
                </a:solidFill>
                <a:latin typeface="Helvetica Neue"/>
              </a:rPr>
              <a:t>, cada una con sus 10 lecturas de la hora.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Es el </a:t>
            </a:r>
            <a:r>
              <a:rPr b="1">
                <a:solidFill>
                  <a:srgbClr val="B45309"/>
                </a:solidFill>
                <a:latin typeface="Helvetica Neue"/>
              </a:rPr>
              <a:t>ladrillo</a:t>
            </a:r>
            <a:r>
              <a:rPr>
                <a:solidFill>
                  <a:srgbClr val="1F2937"/>
                </a:solidFill>
                <a:latin typeface="Helvetica Neue"/>
              </a:rPr>
              <a:t> de los continuous aggregates: si esto lo hace el motor de forma continua, tienes un cagg.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6766560" cy="2926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170931"/>
            <a:ext cx="2487168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hora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5170931"/>
            <a:ext cx="1810512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lecturas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170931"/>
            <a:ext cx="1810512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vel_media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3248"/>
            <a:ext cx="6766560" cy="274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463540"/>
            <a:ext cx="24871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00:00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5463540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463540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89,0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87568"/>
            <a:ext cx="6766560" cy="274320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737859"/>
            <a:ext cx="24871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01:00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573785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73785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61,6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61888"/>
            <a:ext cx="6766560" cy="274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12179"/>
            <a:ext cx="24871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02:00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601217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601217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56,7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236207"/>
            <a:ext cx="6766560" cy="274320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286499"/>
            <a:ext cx="24871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03:00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628649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6286499"/>
            <a:ext cx="1810512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61,0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120640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240 → 24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la misma información, al tamaño de una diapositiva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11_continuous_aggregates.sql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Continuous aggregates: el resumen precalculado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Una </a:t>
            </a:r>
            <a:r>
              <a:rPr b="1">
                <a:solidFill>
                  <a:srgbClr val="B45309"/>
                </a:solidFill>
                <a:latin typeface="Helvetica Neue"/>
              </a:rPr>
              <a:t>vista materializada</a:t>
            </a:r>
            <a:r>
              <a:rPr>
                <a:solidFill>
                  <a:srgbClr val="1F2937"/>
                </a:solidFill>
                <a:latin typeface="Helvetica Neue"/>
              </a:rPr>
              <a:t> que guarda el resultado de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time_bucket + GROUP BY</a:t>
            </a:r>
            <a:r>
              <a:rPr>
                <a:solidFill>
                  <a:srgbClr val="1F2937"/>
                </a:solidFill>
                <a:latin typeface="Helvetica Neue"/>
              </a:rPr>
              <a:t>; se refresca </a:t>
            </a:r>
            <a:r>
              <a:rPr b="1">
                <a:solidFill>
                  <a:srgbClr val="B45309"/>
                </a:solidFill>
                <a:latin typeface="Helvetica Neue"/>
              </a:rPr>
              <a:t>por ventanas</a:t>
            </a:r>
            <a:r>
              <a:rPr>
                <a:solidFill>
                  <a:srgbClr val="1F2937"/>
                </a:solidFill>
                <a:latin typeface="Helvetica Neue"/>
              </a:rPr>
              <a:t> (solo lo que cambió).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Vive en su propia hypertable (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_materialized_hypertable_*</a:t>
            </a:r>
            <a:r>
              <a:rPr>
                <a:solidFill>
                  <a:srgbClr val="1F2937"/>
                </a:solidFill>
                <a:latin typeface="Helvetica Neue"/>
              </a:rPr>
              <a:t> — el nombre cambia por recreación).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Evidencias:</a:t>
            </a:r>
          </a:p>
          <a:p>
            <a:pPr algn="l" lvl="1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tamaño: cruda </a:t>
            </a:r>
            <a:r>
              <a:rPr b="1">
                <a:solidFill>
                  <a:srgbClr val="B45309"/>
                </a:solidFill>
                <a:latin typeface="Helvetica Neue"/>
              </a:rPr>
              <a:t>94 MB</a:t>
            </a:r>
            <a:r>
              <a:rPr>
                <a:solidFill>
                  <a:srgbClr val="1F2937"/>
                </a:solidFill>
                <a:latin typeface="Helvetica Neue"/>
              </a:rPr>
              <a:t> → cagg </a:t>
            </a:r>
            <a:r>
              <a:rPr b="1">
                <a:solidFill>
                  <a:srgbClr val="B45309"/>
                </a:solidFill>
                <a:latin typeface="Helvetica Neue"/>
              </a:rPr>
              <a:t>57 MB</a:t>
            </a:r>
            <a:r>
              <a:rPr>
                <a:solidFill>
                  <a:srgbClr val="1F2937"/>
                </a:solidFill>
                <a:latin typeface="Helvetica Neue"/>
              </a:rPr>
              <a:t> (aún sin comprimir)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consulta 1 año: cruda ~24 ms · 16.121 buffers → </a:t>
            </a:r>
            <a:r>
              <a:rPr b="1">
                <a:solidFill>
                  <a:srgbClr val="B45309"/>
                </a:solidFill>
                <a:latin typeface="Helvetica Neue"/>
              </a:rPr>
              <a:t>cagg ~9 ms · 1.640 buffers</a:t>
            </a:r>
            <a:r>
              <a:rPr>
                <a:solidFill>
                  <a:srgbClr val="1F2937"/>
                </a:solidFill>
                <a:latin typeface="Helvetica Neue"/>
              </a:rPr>
              <a:t> (~10× menos I/O)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5309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Gotcha 2.30</a:t>
            </a:r>
            <a:r>
              <a:rPr>
                <a:solidFill>
                  <a:srgbClr val="B45309"/>
                </a:solidFill>
                <a:latin typeface="Helvetica Neue"/>
              </a:rPr>
              <a:t>: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materialized_only = t</a:t>
            </a:r>
            <a:r>
              <a:rPr>
                <a:solidFill>
                  <a:srgbClr val="B45309"/>
                </a:solidFill>
                <a:latin typeface="Helvetica Neue"/>
              </a:rPr>
              <a:t> (sin realtime) → la fila recién insertada no sale hasta refrescar (manual o política).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7498079" cy="105156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7040879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add_continuous_aggregate_policy('cag_vel_hora',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start_offset =&gt; INTERVAL '1 month',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end_offset   =&gt; INTERVAL '1 hour',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schedule_interval =&gt; INTERVAL '1 hour');  -- refresco cada hora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429000" cy="28346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148840"/>
            <a:ext cx="3017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cagg cag_vel_hora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360 001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buckets (hora × coche)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Refresco: 1 h, ventana [−1 mes, −1 h] — el bucket en curso no se recalcula.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12_tuning_gucs.sql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Tuning: Timescale es PostgreSQL + media docena de GUC propias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64240" cy="3291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61972"/>
            <a:ext cx="376367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Parámetro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1494" y="2061972"/>
            <a:ext cx="39849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Valor aquí (8 CPU / 8 GB, auto)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5905" y="2061972"/>
            <a:ext cx="265724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Regla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40864"/>
            <a:ext cx="11064240" cy="30175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04872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shared_buffers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1494" y="2404872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~2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5905" y="2404872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25 % de la 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42616"/>
            <a:ext cx="11064240" cy="30175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706624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effective_cache_size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1494" y="2706624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~5,7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5905" y="2706624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~75 % de la 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44368"/>
            <a:ext cx="11064240" cy="30175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008376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work_mem / maintenance_work_mem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1494" y="3008376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8 MB / ~1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905" y="3008376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8-16 MB · 5-6 % 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46120"/>
            <a:ext cx="11064240" cy="30175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10128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max_parallel_workers / _per_gather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1494" y="3310128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8 /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5905" y="3310128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= nº de núcleos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47872"/>
            <a:ext cx="11064240" cy="30175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11880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max_worker_processes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1494" y="3611880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5905" y="3611880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parallel + bgw + margen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49624"/>
            <a:ext cx="11064240" cy="30175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913632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timescaledb.max_background_workers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1494" y="3913632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45905" y="3913632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hilos de los jobs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51376"/>
            <a:ext cx="11064240" cy="30175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215384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timescaledb.max_open_chunks_per_insert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1494" y="4215384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1024 → 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5905" y="4215384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≥chunks abiertos en un INSERT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53128"/>
            <a:ext cx="11064240" cy="30175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517136"/>
            <a:ext cx="376367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timescaledb.telemetry_level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1494" y="4517136"/>
            <a:ext cx="398495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basic → 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45905" y="4517136"/>
            <a:ext cx="2657246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5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off en producción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La imagen </a:t>
            </a:r>
            <a:r>
              <a:rPr sz="1300" b="1">
                <a:solidFill>
                  <a:srgbClr val="0E7490"/>
                </a:solidFill>
                <a:latin typeface="Helvetica Neue"/>
              </a:rPr>
              <a:t>timescaledb</a:t>
            </a:r>
            <a:r>
              <a:rPr>
                <a:solidFill>
                  <a:srgbClr val="1F2937"/>
                </a:solidFill>
                <a:latin typeface="Helvetica Neue"/>
              </a:rPr>
              <a:t> </a:t>
            </a:r>
            <a:r>
              <a:rPr b="1">
                <a:solidFill>
                  <a:srgbClr val="B45309"/>
                </a:solidFill>
                <a:latin typeface="Helvetica Neue"/>
              </a:rPr>
              <a:t>auto-tunea al arrancar</a:t>
            </a:r>
            <a:r>
              <a:rPr>
                <a:solidFill>
                  <a:srgbClr val="1F2937"/>
                </a:solidFill>
                <a:latin typeface="Helvetica Neue"/>
              </a:rPr>
              <a:t> según CPU/RAM del contenedor. En producción, más RAM/corees de job y chunks grandes…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E7490"/>
                </a:solidFill>
                <a:latin typeface="Menlo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Ejemplo 4 CPU / 16 GB: </a:t>
            </a:r>
            <a:r>
              <a:rPr sz="1200" b="1">
                <a:solidFill>
                  <a:srgbClr val="0E7490"/>
                </a:solidFill>
                <a:latin typeface="Helvetica Neue"/>
              </a:rPr>
              <a:t>ALTER SYSTEM SET max_worker_processes=28; max_background_workers=8; max_open_chunks_per_insert=16;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 sz="3000" b="1">
                <a:solidFill>
                  <a:srgbClr val="0E7490"/>
                </a:solidFill>
                <a:latin typeface="Helvetica Neue"/>
              </a:rPr>
              <a:t>13_jobs_personalizados_bonus.sql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Jobs personalizados: Timescale como cron de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16 /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7680960" cy="1325880"/>
          </a:xfrm>
          <a:prstGeom prst="roundRect">
            <a:avLst>
              <a:gd name="adj" fmla="val 6000"/>
            </a:avLst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223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add_job('calc_kpi_ultima_hora(int,jsonb)'::regprocedure,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               schedule_interval =&gt; INTERVAL '1 hour');  -- se registra solo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CALL run_job(&lt;job_id&gt;);          -- rellena kpi_velocidad (10 filas)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alter_job(&lt;job_id&gt;, scheduled =&gt; false);  SELECT delete_job(&lt;job_id&gt;);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7DD3FC"/>
                </a:solidFill>
                <a:latin typeface="Menlo"/>
              </a:defRPr>
            </a:pPr>
            <a:r>
              <a:rPr>
                <a:solidFill>
                  <a:srgbClr val="7DD3FC"/>
                </a:solidFill>
                <a:latin typeface="Helvetica Neue"/>
              </a:rPr>
              <a:t>SELECT add_job(...);             -- recreado → otro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Programas </a:t>
            </a:r>
            <a:r>
              <a:rPr b="1">
                <a:solidFill>
                  <a:srgbClr val="B45309"/>
                </a:solidFill>
                <a:latin typeface="Helvetica Neue"/>
              </a:rPr>
              <a:t>cualquier procedimiento/función PostgreSQL</a:t>
            </a:r>
            <a:r>
              <a:rPr>
                <a:solidFill>
                  <a:srgbClr val="1F2937"/>
                </a:solidFill>
                <a:latin typeface="Helvetica Neue"/>
              </a:rPr>
              <a:t> en el planificador de fondo: sin cron aparte.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El procedimiento recibe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job_id int, config jsonb</a:t>
            </a:r>
            <a:r>
              <a:rPr>
                <a:solidFill>
                  <a:srgbClr val="1F2937"/>
                </a:solidFill>
                <a:latin typeface="Helvetica Neue"/>
              </a:rPr>
              <a:t> (Timescale los inyecta).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Nuestro ejemplo: calcula los </a:t>
            </a:r>
            <a:r>
              <a:rPr b="1">
                <a:solidFill>
                  <a:srgbClr val="B45309"/>
                </a:solidFill>
                <a:latin typeface="Helvetica Neue"/>
              </a:rPr>
              <a:t>máximos de velocidad/rpm de la última hora completa</a:t>
            </a:r>
            <a:r>
              <a:rPr>
                <a:solidFill>
                  <a:srgbClr val="1F2937"/>
                </a:solidFill>
                <a:latin typeface="Helvetica Neue"/>
              </a:rPr>
              <a:t> y los upserta en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kpi_velocidad</a:t>
            </a:r>
            <a:r>
              <a:rPr>
                <a:solidFill>
                  <a:srgbClr val="1F2937"/>
                </a:solidFill>
                <a:latin typeface="Helvetica Neue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·  En 2.30 el borrado es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delete_job</a:t>
            </a:r>
            <a:r>
              <a:rPr>
                <a:solidFill>
                  <a:srgbClr val="1F2937"/>
                </a:solidFill>
                <a:latin typeface="Helvetica Neue"/>
              </a:rPr>
              <a:t> (el viejo </a:t>
            </a:r>
            <a:r>
              <a:rPr sz="1500" b="1">
                <a:solidFill>
                  <a:srgbClr val="0E7490"/>
                </a:solidFill>
                <a:latin typeface="Helvetica Neue"/>
              </a:rPr>
              <a:t>remove_job</a:t>
            </a:r>
            <a:r>
              <a:rPr>
                <a:solidFill>
                  <a:srgbClr val="1F2937"/>
                </a:solidFill>
                <a:latin typeface="Helvetica Neue"/>
              </a:rPr>
              <a:t> ya no existe).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6596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19456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kpi_velocidad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 fila por coche y hora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27.7 → 1.934 rpm_max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datos de muestra, job ejecutado a mano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El círculo de la telemetría: 4 políticas que mantienen viva la historia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96012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510528"/>
            <a:ext cx="11091672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Javier Aragón  ·  TimescaleDB — de la telemetría a la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47104"/>
            <a:ext cx="1581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17 /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E7490"/>
                </a:solidFill>
                <a:latin typeface="Helvetica Neue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INGESTA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lotes ≥1000 o COPY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8296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HIPERTABLE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chunks por tiempo · comprime lo viejo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COMPRIME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rowstore → columnstore · −70 %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7607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7336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803D"/>
                </a:solidFill>
                <a:latin typeface="Helvetica Neue"/>
              </a:defRPr>
            </a:pPr>
            <a:r>
              <a:rPr>
                <a:solidFill>
                  <a:srgbClr val="15803D"/>
                </a:solidFill>
                <a:latin typeface="Helvetica Neue"/>
              </a:rPr>
              <a:t>AGREGA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cagg cada hora · −10× I/O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27264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91C1C"/>
                </a:solidFill>
                <a:latin typeface="Helvetica Neue"/>
              </a:defRPr>
            </a:pPr>
            <a:r>
              <a:rPr>
                <a:solidFill>
                  <a:srgbClr val="B91C1C"/>
                </a:solidFill>
                <a:latin typeface="Helvetica Neue"/>
              </a:rPr>
              <a:t>BORRA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autopurga del chunk caducado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19" y="2286000"/>
            <a:ext cx="1755648" cy="658368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7" y="2377440"/>
            <a:ext cx="1536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KPI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7" y="2670048"/>
            <a:ext cx="1536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cualquier procedimiento, cron propio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054096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38328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Cuatro procesos de fondo vivos de principio a fin: compresión, retención, refresco del cagg y el KPI custom (cada uno con su id, asignado por Timescale).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El pipeline completo: </a:t>
            </a:r>
            <a:r>
              <a:rPr b="1">
                <a:solidFill>
                  <a:srgbClr val="B45309"/>
                </a:solidFill>
                <a:latin typeface="Helvetica Neue"/>
              </a:rPr>
              <a:t>comprimo lo viejo, agrego a mitad de camino y borro lo caducado — sin que nadie se acuerde</a:t>
            </a:r>
            <a:r>
              <a:rPr>
                <a:solidFill>
                  <a:srgbClr val="B45309"/>
                </a:solidFill>
                <a:latin typeface="Helvetica Neue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La telemetría que era un vertedero de números se convierte en un pipeline que decide por 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g_elep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01168"/>
            <a:ext cx="1371600" cy="1414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LO QUE NOS LLEVAMOS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25 minutos para ver cómo PostgreSQL no tiene miedo al volumen.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74980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Comprimir</a:t>
            </a:r>
            <a:r>
              <a:rPr>
                <a:solidFill>
                  <a:srgbClr val="1F2937"/>
                </a:solidFill>
                <a:latin typeface="Helvetica Neue"/>
              </a:rPr>
              <a:t> casi sin esfuerzo: 56 → 17 MB por chunk, lossless.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Leer 1 de 1.500 chunks</a:t>
            </a:r>
            <a:r>
              <a:rPr>
                <a:solidFill>
                  <a:srgbClr val="1F2937"/>
                </a:solidFill>
                <a:latin typeface="Helvetica Neue"/>
              </a:rPr>
              <a:t> cuando filtras por tiempo (pruning) y agregados precalculados ~10× menos I/O.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 b="1">
                <a:solidFill>
                  <a:srgbClr val="B45309"/>
                </a:solidFill>
                <a:latin typeface="Helvetica Neue"/>
              </a:rPr>
              <a:t>Automatizar el ciclo de vida</a:t>
            </a:r>
            <a:r>
              <a:rPr>
                <a:solidFill>
                  <a:srgbClr val="1F2937"/>
                </a:solidFill>
                <a:latin typeface="Helvetica Neue"/>
              </a:rPr>
              <a:t>: compresión, retención, refresco y cualquier procedimiento con 4 líneas.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Y aun así: sigue siendo PostgreSQL. </a:t>
            </a:r>
            <a:r>
              <a:rPr sz="1600" b="1">
                <a:solidFill>
                  <a:srgbClr val="0E7490"/>
                </a:solidFill>
                <a:latin typeface="Helvetica Neue"/>
              </a:rPr>
              <a:t>EXPLAIN</a:t>
            </a:r>
            <a:r>
              <a:rPr>
                <a:solidFill>
                  <a:srgbClr val="1F2937"/>
                </a:solidFill>
                <a:latin typeface="Helvetica Neue"/>
              </a:rPr>
              <a:t>, catálogo abierto, tuning estándar.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64240" cy="10972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F2937"/>
                </a:solidFill>
                <a:latin typeface="Helvetica Neue"/>
              </a:defRPr>
            </a:pPr>
            <a:r>
              <a:rPr>
                <a:solidFill>
                  <a:srgbClr val="1F2937"/>
                </a:solidFill>
                <a:latin typeface="Helvetica Neue"/>
              </a:rPr>
              <a:t>Javier Aragón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0E7490"/>
                </a:solidFill>
                <a:latin typeface="Helvetica Neue"/>
              </a:defRPr>
            </a:pPr>
            <a:r>
              <a:rPr>
                <a:solidFill>
                  <a:srgbClr val="0E7490"/>
                </a:solidFill>
                <a:latin typeface="Helvetica Neue"/>
              </a:rPr>
              <a:t>Arquitecto IT · javier.aragon.diaz@gmail.com · linkedin.com/in/javieraragondiaz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rPr>
                <a:solidFill>
                  <a:srgbClr val="6B7280"/>
                </a:solidFill>
                <a:latin typeface="Helvetica Neue"/>
              </a:rPr>
              <a:t>Repo con los scripts de esta demo: github.com/xavipuerto/autometrics-demo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760720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B45309"/>
                </a:solidFill>
                <a:latin typeface="Helvetica Neue"/>
              </a:defRPr>
            </a:pPr>
            <a:r>
              <a:rPr>
                <a:solidFill>
                  <a:srgbClr val="B45309"/>
                </a:solidFill>
                <a:latin typeface="Helvetica Neue"/>
              </a:rPr>
              <a:t>"Con los datos tengo la pregunta clara: ¿qué me están contando?"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