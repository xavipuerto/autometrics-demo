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02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Javier Aragón</a:t>
            </a:r>
            <a:r>
              <a:rPr>
                <a:solidFill>
                  <a:srgbClr val="1F2937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B45309"/>
                </a:solidFill>
                <a:latin typeface="Helvetica Neue"/>
              </a:rPr>
              <a:t>Idrica · Xylem</a:t>
            </a:r>
            <a:r>
              <a:rPr>
                <a:solidFill>
                  <a:srgbClr val="1F2937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03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05   Política de compresión — el trabajo en segundo plano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01   Retención / autopurga — el historial se borra solo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02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03   Continuous aggregates — el resumen precalculado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04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05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06   El círculo de la telemetría — resumen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Es una </a:t>
            </a:r>
            <a:r>
              <a:rPr b="1">
                <a:solidFill>
                  <a:srgbClr val="B45309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1F2937"/>
                </a:solidFill>
                <a:latin typeface="Helvetica Neue"/>
              </a:rPr>
              <a:t> (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1F2937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EXPLAIN</a:t>
            </a:r>
            <a:r>
              <a:rPr>
                <a:solidFill>
                  <a:srgbClr val="1F2937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B45309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1F2937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Y lo hace </a:t>
            </a:r>
            <a:r>
              <a:rPr b="1">
                <a:solidFill>
                  <a:srgbClr val="B45309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1F2937"/>
                </a:solidFill>
                <a:latin typeface="Helvetica Neue"/>
              </a:rPr>
              <a:t>: si ya usas PostgreSQL, lo añades y ya.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¿Y probarlo en la nube sin instalar nada? </a:t>
            </a:r>
            <a:r>
              <a:rPr b="1">
                <a:solidFill>
                  <a:srgbClr val="B45309"/>
                </a:solidFill>
                <a:latin typeface="Helvetica Neue"/>
              </a:rPr>
              <a:t>Tiger Cloud</a:t>
            </a:r>
            <a:r>
              <a:rPr>
                <a:solidFill>
                  <a:srgbClr val="1F2937"/>
                </a:solidFill>
                <a:latin typeface="Helvetica Neue"/>
              </a:rPr>
              <a:t> — la plataforma gestionada de la compañía (hoy *TigerData*) — provisiona un PostgreSQL + TimescaleDB en minutos, con </a:t>
            </a:r>
            <a:r>
              <a:rPr b="1">
                <a:solidFill>
                  <a:srgbClr val="B45309"/>
                </a:solidFill>
                <a:latin typeface="Helvetica Neue"/>
              </a:rPr>
              <a:t>30 días de prueba gratis sin tarjeta</a:t>
            </a:r>
            <a:r>
              <a:rPr>
                <a:solidFill>
                  <a:srgbClr val="1F2937"/>
                </a:solidFill>
                <a:latin typeface="Helvetica Neue"/>
              </a:rPr>
              <a:t>. Esta misma demo corre ahí igual.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74519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103120"/>
            <a:ext cx="3154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Mismo SQL, mismo EXPLAIN, mismo catálogo: la diferencia es lo que el motor hace con las tablas por dentro — local 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01_ddl.sql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Hypertables y chunks: la tabla lógica y el trozo físico por franja de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05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Hypertable</a:t>
            </a:r>
            <a:r>
              <a:rPr>
                <a:solidFill>
                  <a:srgbClr val="1F2937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CREATE TABLE</a:t>
            </a:r>
            <a:r>
              <a:rPr>
                <a:solidFill>
                  <a:srgbClr val="1F2937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Chunk</a:t>
            </a:r>
            <a:r>
              <a:rPr>
                <a:solidFill>
                  <a:srgbClr val="1F2937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1F2937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chunk_time_interval</a:t>
            </a:r>
            <a:r>
              <a:rPr>
                <a:solidFill>
                  <a:srgbClr val="1F2937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B45309"/>
                </a:solidFill>
                <a:latin typeface="Helvetica Neue"/>
              </a:rPr>
              <a:t>1 día</a:t>
            </a:r>
            <a:r>
              <a:rPr>
                <a:solidFill>
                  <a:srgbClr val="1F2937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vehiculos_ts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94760"/>
            <a:ext cx="7680960" cy="96012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7223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0E7490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6B7280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0E7490"/>
                </a:solidFill>
                <a:latin typeface="Helvetica Neue"/>
              </a:rPr>
              <a:t>_hyper_*</a:t>
            </a:r>
            <a:r>
              <a:rPr>
                <a:solidFill>
                  <a:srgbClr val="6B7280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0E7490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02_grande.sql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06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B45309"/>
                </a:solidFill>
                <a:latin typeface="Helvetica Neue"/>
              </a:rPr>
              <a:t>overhead por chunk</a:t>
            </a:r>
            <a:r>
              <a:rPr>
                <a:solidFill>
                  <a:srgbClr val="1F2937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b="1">
                <a:solidFill>
                  <a:srgbClr val="B45309"/>
                </a:solidFill>
                <a:latin typeface="Helvetica Neue"/>
              </a:rPr>
              <a:t>Regla práctica</a:t>
            </a:r>
            <a:r>
              <a:rPr>
                <a:solidFill>
                  <a:srgbClr val="1F2937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B45309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1F2937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03_compresion.sql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07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B45309"/>
                </a:solidFill>
                <a:latin typeface="Helvetica Neue"/>
              </a:rPr>
              <a:t>columnstore</a:t>
            </a:r>
            <a:r>
              <a:rPr>
                <a:solidFill>
                  <a:srgbClr val="1F2937"/>
                </a:solidFill>
                <a:latin typeface="Helvetica Neue"/>
              </a:rPr>
              <a:t> (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1F2937"/>
                </a:solidFill>
                <a:latin typeface="Helvetica Neue"/>
              </a:rPr>
              <a:t>) y es </a:t>
            </a:r>
            <a:r>
              <a:rPr b="1">
                <a:solidFill>
                  <a:srgbClr val="B45309"/>
                </a:solidFill>
                <a:latin typeface="Helvetica Neue"/>
              </a:rPr>
              <a:t>lossless</a:t>
            </a:r>
            <a:r>
              <a:rPr>
                <a:solidFill>
                  <a:srgbClr val="1F2937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count(*)</a:t>
            </a:r>
            <a:r>
              <a:rPr>
                <a:solidFill>
                  <a:srgbClr val="1F2937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Algoritmo por defecto: Timescale lo elige solo al comprimir, </a:t>
            </a:r>
            <a:r>
              <a:rPr b="1">
                <a:solidFill>
                  <a:srgbClr val="B45309"/>
                </a:solidFill>
                <a:latin typeface="Helvetica Neue"/>
              </a:rPr>
              <a:t>según el tipo de cada columna</a:t>
            </a:r>
            <a:r>
              <a:rPr>
                <a:solidFill>
                  <a:srgbClr val="1F2937"/>
                </a:solidFill>
                <a:latin typeface="Helvetica Neue"/>
              </a:rPr>
              <a:t> (catálogo 2.30):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DELTADELTA</a:t>
            </a:r>
            <a:r>
              <a:rPr>
                <a:solidFill>
                  <a:srgbClr val="1F2937"/>
                </a:solidFill>
                <a:latin typeface="Helvetica Neue"/>
              </a:rPr>
              <a:t> + simple-8b + RLE → enteros y timestamps (el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ts</a:t>
            </a:r>
            <a:r>
              <a:rPr>
                <a:solidFill>
                  <a:srgbClr val="1F2937"/>
                </a:solidFill>
                <a:latin typeface="Helvetica Neue"/>
              </a:rPr>
              <a:t> pasa de 64 bits a ~1)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GORILLA</a:t>
            </a:r>
            <a:r>
              <a:rPr>
                <a:solidFill>
                  <a:srgbClr val="1F2937"/>
                </a:solidFill>
                <a:latin typeface="Helvetica Neue"/>
              </a:rPr>
              <a:t> (XOR)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DICTIONARY</a:t>
            </a:r>
            <a:r>
              <a:rPr>
                <a:solidFill>
                  <a:srgbClr val="1F2937"/>
                </a:solidFill>
                <a:latin typeface="Helvetica Neue"/>
              </a:rPr>
              <a:t> → baja cardinalidad: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auto_id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BOOL</a:t>
            </a:r>
            <a:r>
              <a:rPr>
                <a:solidFill>
                  <a:srgbClr val="1F2937"/>
                </a:solidFill>
                <a:latin typeface="Helvetica Neue"/>
              </a:rPr>
              <a:t> /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UUID</a:t>
            </a:r>
            <a:r>
              <a:rPr>
                <a:solidFill>
                  <a:srgbClr val="1F2937"/>
                </a:solidFill>
                <a:latin typeface="Helvetica Neue"/>
              </a:rPr>
              <a:t> → bools e ids;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ARRAY</a:t>
            </a:r>
            <a:r>
              <a:rPr>
                <a:solidFill>
                  <a:srgbClr val="1F2937"/>
                </a:solidFill>
                <a:latin typeface="Helvetica Neue"/>
              </a:rPr>
              <a:t> solo para filtros/índices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Tú no pides el algoritmo (solo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segmentby</a:t>
            </a:r>
            <a:r>
              <a:rPr>
                <a:solidFill>
                  <a:srgbClr val="1F2937"/>
                </a:solidFill>
                <a:latin typeface="Helvetica Neue"/>
              </a:rPr>
              <a:t>/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orderby</a:t>
            </a:r>
            <a:r>
              <a:rPr>
                <a:solidFill>
                  <a:srgbClr val="1F2937"/>
                </a:solidFill>
                <a:latin typeface="Helvetica Neue"/>
              </a:rPr>
              <a:t>):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timescaledb_information.compression_settings</a:t>
            </a:r>
            <a:r>
              <a:rPr>
                <a:solidFill>
                  <a:srgbClr val="1F2937"/>
                </a:solidFill>
                <a:latin typeface="Helvetica Neue"/>
              </a:rPr>
              <a:t> muestra lo aplicado.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B45309"/>
                </a:solidFill>
                <a:latin typeface="Helvetica Neue"/>
              </a:rPr>
              <a:t>viejo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ALTER TABLE vehiculos_grande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03_compresion.sql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vehiculos_grande: 3 chunks de 3 días, 2 comprimidos y 1 de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Ventana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Antes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Después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Comprimido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17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3002 (… 6004)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17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56 MB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B45309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1F2937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0E7490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1F2937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B45309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1F2937"/>
                </a:solidFill>
                <a:latin typeface="Helvetica Neue"/>
              </a:rPr>
              <a:t>: </a:t>
            </a:r>
            <a:r>
              <a:rPr sz="1400" b="1">
                <a:solidFill>
                  <a:srgbClr val="0E7490"/>
                </a:solidFill>
                <a:latin typeface="Helvetica Neue"/>
              </a:rPr>
              <a:t>3001</a:t>
            </a:r>
            <a:r>
              <a:rPr>
                <a:solidFill>
                  <a:srgbClr val="1F2937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0E7490"/>
                </a:solidFill>
                <a:latin typeface="Helvetica Neue"/>
              </a:rPr>
              <a:t>6003</a:t>
            </a:r>
            <a:r>
              <a:rPr>
                <a:solidFill>
                  <a:srgbClr val="1F2937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B45309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1F2937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1.555.200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04_insert_chunk_comprimido.sql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09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Mito a corregir</a:t>
            </a:r>
            <a:r>
              <a:rPr>
                <a:solidFill>
                  <a:srgbClr val="1F2937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B45309"/>
                </a:solidFill>
                <a:latin typeface="Helvetica Neue"/>
              </a:rPr>
              <a:t>falso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B45309"/>
                </a:solidFill>
                <a:latin typeface="Helvetica Neue"/>
              </a:rPr>
              <a:t>overflow rowstore</a:t>
            </a:r>
            <a:r>
              <a:rPr>
                <a:solidFill>
                  <a:srgbClr val="1F2937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is_compressed</a:t>
            </a:r>
            <a:r>
              <a:rPr>
                <a:solidFill>
                  <a:srgbClr val="1F2937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t</a:t>
            </a:r>
            <a:r>
              <a:rPr>
                <a:solidFill>
                  <a:srgbClr val="1F2937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B45309"/>
                </a:solidFill>
                <a:latin typeface="Helvetica Neue"/>
              </a:rPr>
              <a:t>crece</a:t>
            </a:r>
            <a:r>
              <a:rPr>
                <a:solidFill>
                  <a:srgbClr val="1F2937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B45309"/>
                </a:solidFill>
                <a:latin typeface="Helvetica Neue"/>
              </a:rPr>
              <a:t>recomprimir</a:t>
            </a:r>
            <a:r>
              <a:rPr>
                <a:solidFill>
                  <a:srgbClr val="1F2937"/>
                </a:solidFill>
                <a:latin typeface="Helvetica Neue"/>
              </a:rPr>
              <a:t>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compress_chunk()</a:t>
            </a:r>
            <a:r>
              <a:rPr>
                <a:solidFill>
                  <a:srgbClr val="1F2937"/>
                </a:solidFill>
                <a:latin typeface="Helvetica Neue"/>
              </a:rPr>
              <a:t> o la política de compresión en segundo plano.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B45309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B45309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compress_chunk</a:t>
            </a:r>
            <a:r>
              <a:rPr>
                <a:solidFill>
                  <a:srgbClr val="6B7280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05_compresion_politica.sql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La política de compresión: se ocupa de todo sola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10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7680960" cy="15544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7223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add_compression_policy('vehiculos_grande',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 el id lo asigna Timescale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remove_compression_policy('vehiculos_grande'); -- borrar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Cada </a:t>
            </a:r>
            <a:r>
              <a:rPr b="1">
                <a:solidFill>
                  <a:srgbClr val="B45309"/>
                </a:solidFill>
                <a:latin typeface="Helvetica Neue"/>
              </a:rPr>
              <a:t>24 h</a:t>
            </a:r>
            <a:r>
              <a:rPr>
                <a:solidFill>
                  <a:srgbClr val="1F2937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B45309"/>
                </a:solidFill>
                <a:latin typeface="Helvetica Neue"/>
              </a:rPr>
              <a:t>&gt;24 h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b="1">
                <a:solidFill>
                  <a:srgbClr val="B45309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1F2937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b="1">
                <a:solidFill>
                  <a:srgbClr val="B45309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1F2937"/>
                </a:solidFill>
                <a:latin typeface="Helvetica Neue"/>
              </a:rPr>
              <a:t>: nunca toca la ventana reciente (por eso el chunk de control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job_stats</a:t>
            </a:r>
            <a:r>
              <a:rPr>
                <a:solidFill>
                  <a:srgbClr val="1F2937"/>
                </a:solidFill>
                <a:latin typeface="Helvetica Neue"/>
              </a:rPr>
              <a:t> /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job_history</a:t>
            </a:r>
            <a:r>
              <a:rPr>
                <a:solidFill>
                  <a:srgbClr val="1F2937"/>
                </a:solidFill>
                <a:latin typeface="Helvetica Neue"/>
              </a:rPr>
              <a:t> muestran la ejecución en vivo: éxito, tiempos, siguiente arranque.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Éxito (Success)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arrancó al crearse y vuelve cada 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07_explain_queries.sql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11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Coste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vehiculos_grande (comprimida)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1F2937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E7490"/>
                </a:solidFill>
                <a:latin typeface="Menlo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09_retencion_autopurga.sql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Retención / autopurga: que lo viejo desaparezca solo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drop_chunks('vehiculos_grande',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(se repite 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add_retention_policy('vehiculos_grande',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SELECT remove_retention_policy('vehiculos_grande');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Borra </a:t>
            </a:r>
            <a:r>
              <a:rPr b="1">
                <a:solidFill>
                  <a:srgbClr val="B45309"/>
                </a:solidFill>
                <a:latin typeface="Helvetica Neue"/>
              </a:rPr>
              <a:t>chunks completos</a:t>
            </a:r>
            <a:r>
              <a:rPr>
                <a:solidFill>
                  <a:srgbClr val="1F2937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range_end</a:t>
            </a:r>
            <a:r>
              <a:rPr>
                <a:solidFill>
                  <a:srgbClr val="1F2937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now() - drop_after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B45309"/>
                </a:solidFill>
                <a:latin typeface="Helvetica Neue"/>
              </a:rPr>
              <a:t>3 → 2 chunks</a:t>
            </a:r>
            <a:r>
              <a:rPr>
                <a:solidFill>
                  <a:srgbClr val="1F2937"/>
                </a:solidFill>
                <a:latin typeface="Helvetica Neue"/>
              </a:rPr>
              <a:t>; la autopurga se llevó exactamente el más antiguo.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Compresión y retención son </a:t>
            </a:r>
            <a:r>
              <a:rPr b="1">
                <a:solidFill>
                  <a:srgbClr val="B45309"/>
                </a:solidFill>
                <a:latin typeface="Helvetica Neue"/>
              </a:rPr>
              <a:t>dos políticas que se complementan</a:t>
            </a:r>
            <a:r>
              <a:rPr>
                <a:solidFill>
                  <a:srgbClr val="1F2937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B45309"/>
                </a:solidFill>
                <a:latin typeface="Helvetica Neue"/>
              </a:rPr>
              <a:t>borro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10_time_bucket.sql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Downsampling: 240 lecturas sueltas → 24 medias horizontales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13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date_trunc</a:t>
            </a:r>
            <a:r>
              <a:rPr>
                <a:solidFill>
                  <a:srgbClr val="1F2937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B45309"/>
                </a:solidFill>
                <a:latin typeface="Helvetica Neue"/>
              </a:rPr>
              <a:t>parrilla fija</a:t>
            </a:r>
            <a:r>
              <a:rPr>
                <a:solidFill>
                  <a:srgbClr val="1F2937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2 hours</a:t>
            </a:r>
            <a:r>
              <a:rPr>
                <a:solidFill>
                  <a:srgbClr val="1F2937"/>
                </a:solidFill>
                <a:latin typeface="Helvetica Neue"/>
              </a:rPr>
              <a:t>,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90 minutes</a:t>
            </a:r>
            <a:r>
              <a:rPr>
                <a:solidFill>
                  <a:srgbClr val="1F2937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B45309"/>
                </a:solidFill>
                <a:latin typeface="Helvetica Neue"/>
              </a:rPr>
              <a:t>24 filas</a:t>
            </a:r>
            <a:r>
              <a:rPr>
                <a:solidFill>
                  <a:srgbClr val="1F2937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Es el </a:t>
            </a:r>
            <a:r>
              <a:rPr b="1">
                <a:solidFill>
                  <a:srgbClr val="B45309"/>
                </a:solidFill>
                <a:latin typeface="Helvetica Neue"/>
              </a:rPr>
              <a:t>ladrillo</a:t>
            </a:r>
            <a:r>
              <a:rPr>
                <a:solidFill>
                  <a:srgbClr val="1F2937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hora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lecturas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vel_media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00:00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89,0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01:00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61,6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02:00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56,7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03:00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61,0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11_continuous_aggregates.sql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Continuous aggregates: el resumen precalculado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Una </a:t>
            </a:r>
            <a:r>
              <a:rPr b="1">
                <a:solidFill>
                  <a:srgbClr val="B45309"/>
                </a:solidFill>
                <a:latin typeface="Helvetica Neue"/>
              </a:rPr>
              <a:t>vista materializada</a:t>
            </a:r>
            <a:r>
              <a:rPr>
                <a:solidFill>
                  <a:srgbClr val="1F2937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1F2937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B45309"/>
                </a:solidFill>
                <a:latin typeface="Helvetica Neue"/>
              </a:rPr>
              <a:t>por ventanas</a:t>
            </a:r>
            <a:r>
              <a:rPr>
                <a:solidFill>
                  <a:srgbClr val="1F2937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1F2937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B45309"/>
                </a:solidFill>
                <a:latin typeface="Helvetica Neue"/>
              </a:rPr>
              <a:t>94 MB</a:t>
            </a:r>
            <a:r>
              <a:rPr>
                <a:solidFill>
                  <a:srgbClr val="1F2937"/>
                </a:solidFill>
                <a:latin typeface="Helvetica Neue"/>
              </a:rPr>
              <a:t> → cagg </a:t>
            </a:r>
            <a:r>
              <a:rPr b="1">
                <a:solidFill>
                  <a:srgbClr val="B45309"/>
                </a:solidFill>
                <a:latin typeface="Helvetica Neue"/>
              </a:rPr>
              <a:t>57 MB</a:t>
            </a:r>
            <a:r>
              <a:rPr>
                <a:solidFill>
                  <a:srgbClr val="1F2937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B45309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1F2937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Gotcha 2.30</a:t>
            </a:r>
            <a:r>
              <a:rPr>
                <a:solidFill>
                  <a:srgbClr val="B45309"/>
                </a:solidFill>
                <a:latin typeface="Helvetica Neue"/>
              </a:rPr>
              <a:t>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B45309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 refresco cada hora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12_tuning_gucs.sql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Parámetro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Regla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shared_buffers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~2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25 % de la RAM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~5,7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~75 % de la 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 MB / ~1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 /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= nº de núcleos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1024 → 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basic → off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timescaledb</a:t>
            </a:r>
            <a:r>
              <a:rPr>
                <a:solidFill>
                  <a:srgbClr val="1F2937"/>
                </a:solidFill>
                <a:latin typeface="Helvetica Neue"/>
              </a:rPr>
              <a:t> </a:t>
            </a:r>
            <a:r>
              <a:rPr b="1">
                <a:solidFill>
                  <a:srgbClr val="B45309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1F2937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E7490"/>
                </a:solidFill>
                <a:latin typeface="Menlo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0E7490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13_jobs_personalizados_bonus.sql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Jobs personalizados: Timescale como cron de PostgreSQL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 se registra solo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SELECT delete_job(&lt;job_id&gt;);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-- recreado → otro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B45309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1F2937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1F2937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B45309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1F2937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kpi_velocidad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delete_job</a:t>
            </a:r>
            <a:r>
              <a:rPr>
                <a:solidFill>
                  <a:srgbClr val="1F2937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remove_job</a:t>
            </a:r>
            <a:r>
              <a:rPr>
                <a:solidFill>
                  <a:srgbClr val="1F2937"/>
                </a:solidFill>
                <a:latin typeface="Helvetica Neue"/>
              </a:rPr>
              <a:t> ya no existe).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círculo de la telemetría: 4 políticas que mantienen viva la historia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17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INGESTA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HIPERTABLE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COMPRIME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AGREGA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91C1C"/>
                </a:solidFill>
                <a:latin typeface="Helvetica Neue"/>
              </a:defRPr>
            </a:pPr>
            <a:r>
              <a:rPr>
                <a:solidFill>
                  <a:srgbClr val="B91C1C"/>
                </a:solidFill>
                <a:latin typeface="Helvetica Neue"/>
              </a:rPr>
              <a:t>BORRA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KPI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Cuatro procesos de fondo vivos de principio a fin: compresión, retención, refresco del cagg y el KPI custom (cada uno con su id, asignado por Timescale).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B45309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B45309"/>
                </a:solidFill>
                <a:latin typeface="Helvetica Neue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Comprimir</a:t>
            </a:r>
            <a:r>
              <a:rPr>
                <a:solidFill>
                  <a:srgbClr val="1F2937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1F2937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1F2937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0E7490"/>
                </a:solidFill>
                <a:latin typeface="Helvetica Neue"/>
              </a:rPr>
              <a:t>EXPLAIN</a:t>
            </a:r>
            <a:r>
              <a:rPr>
                <a:solidFill>
                  <a:srgbClr val="1F2937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