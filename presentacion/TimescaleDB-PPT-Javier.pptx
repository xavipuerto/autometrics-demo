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02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Javier Aragón</a:t>
            </a:r>
            <a:r>
              <a:rPr>
                <a:solidFill>
                  <a:srgbClr val="E2E8F0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FBBF24"/>
                </a:solidFill>
                <a:latin typeface="Helvetica Neue"/>
              </a:rPr>
              <a:t>Idrica · Xylem</a:t>
            </a:r>
            <a:r>
              <a:rPr>
                <a:solidFill>
                  <a:srgbClr val="E2E8F0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03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Política de compresión — el job 1000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Retención / autopurga — el job 1001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Continuous aggregates — el job 1002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El círculo de la telemetría — resumen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Es una </a:t>
            </a:r>
            <a:r>
              <a:rPr b="1">
                <a:solidFill>
                  <a:srgbClr val="FBBF24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E2E8F0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FBBF24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E2E8F0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lo hace </a:t>
            </a:r>
            <a:r>
              <a:rPr b="1">
                <a:solidFill>
                  <a:srgbClr val="FBBF24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E2E8F0"/>
                </a:solidFill>
                <a:latin typeface="Helvetica Neue"/>
              </a:rPr>
              <a:t>: si ya usas PostgreSQL, lo añades y ya.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¿Y probarlo en la nube sin instalar nada? </a:t>
            </a:r>
            <a:r>
              <a:rPr b="1">
                <a:solidFill>
                  <a:srgbClr val="FBBF24"/>
                </a:solidFill>
                <a:latin typeface="Helvetica Neue"/>
              </a:rPr>
              <a:t>Tiger Cloud</a:t>
            </a:r>
            <a:r>
              <a:rPr>
                <a:solidFill>
                  <a:srgbClr val="E2E8F0"/>
                </a:solidFill>
                <a:latin typeface="Helvetica Neue"/>
              </a:rPr>
              <a:t> — la plataforma gestionada de la compañía (hoy *TigerData*) — provisiona un PostgreSQL + TimescaleDB en minutos, con </a:t>
            </a:r>
            <a:r>
              <a:rPr b="1">
                <a:solidFill>
                  <a:srgbClr val="FBBF24"/>
                </a:solidFill>
                <a:latin typeface="Helvetica Neue"/>
              </a:rPr>
              <a:t>30 días de prueba gratis sin tarjeta</a:t>
            </a:r>
            <a:r>
              <a:rPr>
                <a:solidFill>
                  <a:srgbClr val="E2E8F0"/>
                </a:solidFill>
                <a:latin typeface="Helvetica Neue"/>
              </a:rPr>
              <a:t>. Esta misma demo corre ahí igual.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74519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154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Mismo SQL, mismo EXPLAIN, mismo catálogo: la diferencia es lo que el motor hace con las tablas por dentro — local 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01_ddl.sql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Hypertables y chunks: la tabla lógica y el trozo físico por franja de tiempo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Hypertable</a:t>
            </a:r>
            <a:r>
              <a:rPr>
                <a:solidFill>
                  <a:srgbClr val="E2E8F0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TABLE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Chunk</a:t>
            </a:r>
            <a:r>
              <a:rPr>
                <a:solidFill>
                  <a:srgbClr val="E2E8F0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E2E8F0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chunk_time_interval</a:t>
            </a:r>
            <a:r>
              <a:rPr>
                <a:solidFill>
                  <a:srgbClr val="E2E8F0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FBBF24"/>
                </a:solidFill>
                <a:latin typeface="Helvetica Neue"/>
              </a:rPr>
              <a:t>1 día</a:t>
            </a:r>
            <a:r>
              <a:rPr>
                <a:solidFill>
                  <a:srgbClr val="E2E8F0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vehiculos_ts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94760"/>
            <a:ext cx="7680960" cy="96012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7223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94A3B8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_hyper_*</a:t>
            </a:r>
            <a:r>
              <a:rPr>
                <a:solidFill>
                  <a:srgbClr val="94A3B8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7DD3FC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02_grande.sql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06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FBBF24"/>
                </a:solidFill>
                <a:latin typeface="Helvetica Neue"/>
              </a:rPr>
              <a:t>overhead por chunk</a:t>
            </a:r>
            <a:r>
              <a:rPr>
                <a:solidFill>
                  <a:srgbClr val="E2E8F0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Regla práctica</a:t>
            </a:r>
            <a:r>
              <a:rPr>
                <a:solidFill>
                  <a:srgbClr val="E2E8F0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FBBF24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E2E8F0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07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FBBF24"/>
                </a:solidFill>
                <a:latin typeface="Helvetica Neue"/>
              </a:rPr>
              <a:t>columnstore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E2E8F0"/>
                </a:solidFill>
                <a:latin typeface="Helvetica Neue"/>
              </a:rPr>
              <a:t>) y es </a:t>
            </a:r>
            <a:r>
              <a:rPr b="1">
                <a:solidFill>
                  <a:srgbClr val="FBBF24"/>
                </a:solidFill>
                <a:latin typeface="Helvetica Neue"/>
              </a:rPr>
              <a:t>lossless</a:t>
            </a:r>
            <a:r>
              <a:rPr>
                <a:solidFill>
                  <a:srgbClr val="E2E8F0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count(*)</a:t>
            </a:r>
            <a:r>
              <a:rPr>
                <a:solidFill>
                  <a:srgbClr val="E2E8F0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Algoritmos automáticos por tipo: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delta-of-delta + simple-8b + RLE</a:t>
            </a:r>
            <a:r>
              <a:rPr>
                <a:solidFill>
                  <a:srgbClr val="E2E8F0"/>
                </a:solidFill>
                <a:latin typeface="Helvetica Neue"/>
              </a:rPr>
              <a:t> → enteros, timestamps, bool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XOR (Gorilla)</a:t>
            </a:r>
            <a:r>
              <a:rPr>
                <a:solidFill>
                  <a:srgbClr val="E2E8F0"/>
                </a:solidFill>
                <a:latin typeface="Helvetica Neue"/>
              </a:rPr>
              <a:t>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diccionario</a:t>
            </a:r>
            <a:r>
              <a:rPr>
                <a:solidFill>
                  <a:srgbClr val="E2E8F0"/>
                </a:solidFill>
                <a:latin typeface="Helvetica Neue"/>
              </a:rPr>
              <a:t> → baja cardinalidad: auto_id, rpm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Se configura con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segmentby</a:t>
            </a:r>
            <a:r>
              <a:rPr>
                <a:solidFill>
                  <a:srgbClr val="E2E8F0"/>
                </a:solidFill>
                <a:latin typeface="Helvetica Neue"/>
              </a:rPr>
              <a:t> (por coche) y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orderby</a:t>
            </a:r>
            <a:r>
              <a:rPr>
                <a:solidFill>
                  <a:srgbClr val="E2E8F0"/>
                </a:solidFill>
                <a:latin typeface="Helvetica Neue"/>
              </a:rPr>
              <a:t> (ts DESC).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FBBF24"/>
                </a:solidFill>
                <a:latin typeface="Helvetica Neue"/>
              </a:rPr>
              <a:t>viejo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ALTER TABLE vehiculos_gorda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vehiculos_gorda: 3 chunks de 3 días, 2 comprimidos y 1 de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Comprimido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3002 (… 6004)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FBBF24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E2E8F0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E2E8F0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3001</a:t>
            </a:r>
            <a:r>
              <a:rPr>
                <a:solidFill>
                  <a:srgbClr val="E2E8F0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6003</a:t>
            </a:r>
            <a:r>
              <a:rPr>
                <a:solidFill>
                  <a:srgbClr val="E2E8F0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FBBF24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E2E8F0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1.555.200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04_insert_chunk_comprimido.sql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09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Mito a corregir</a:t>
            </a:r>
            <a:r>
              <a:rPr>
                <a:solidFill>
                  <a:srgbClr val="E2E8F0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FBBF24"/>
                </a:solidFill>
                <a:latin typeface="Helvetica Neue"/>
              </a:rPr>
              <a:t>falso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FBBF24"/>
                </a:solidFill>
                <a:latin typeface="Helvetica Neue"/>
              </a:rPr>
              <a:t>overflow rowstore</a:t>
            </a:r>
            <a:r>
              <a:rPr>
                <a:solidFill>
                  <a:srgbClr val="E2E8F0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is_compressed</a:t>
            </a:r>
            <a:r>
              <a:rPr>
                <a:solidFill>
                  <a:srgbClr val="E2E8F0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</a:t>
            </a:r>
            <a:r>
              <a:rPr>
                <a:solidFill>
                  <a:srgbClr val="E2E8F0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crece</a:t>
            </a:r>
            <a:r>
              <a:rPr>
                <a:solidFill>
                  <a:srgbClr val="E2E8F0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FBBF24"/>
                </a:solidFill>
                <a:latin typeface="Helvetica Neue"/>
              </a:rPr>
              <a:t>recomprimir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compress_chunk()</a:t>
            </a:r>
            <a:r>
              <a:rPr>
                <a:solidFill>
                  <a:srgbClr val="E2E8F0"/>
                </a:solidFill>
                <a:latin typeface="Helvetica Neue"/>
              </a:rPr>
              <a:t> o la política de compresión (job 1000).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FBBF24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FBBF24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compress_chunk</a:t>
            </a:r>
            <a:r>
              <a:rPr>
                <a:solidFill>
                  <a:srgbClr val="94A3B8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05_compresion_politica.sql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política de compresión — job 1000, que se ocupa de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10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7680960" cy="15544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7223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add_compression_policy('vehiculos_gorda',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--→ job 1000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run_job(1000);     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alter_job(1000, scheduled =&gt; false);    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remove_compression_policy('vehiculos_gorda'); -- borrar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Cada </a:t>
            </a:r>
            <a:r>
              <a:rPr b="1">
                <a:solidFill>
                  <a:srgbClr val="FBBF24"/>
                </a:solidFill>
                <a:latin typeface="Helvetica Neue"/>
              </a:rPr>
              <a:t>24 h</a:t>
            </a:r>
            <a:r>
              <a:rPr>
                <a:solidFill>
                  <a:srgbClr val="E2E8F0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FBBF24"/>
                </a:solidFill>
                <a:latin typeface="Helvetica Neue"/>
              </a:rPr>
              <a:t>&gt;24 h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E2E8F0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E2E8F0"/>
                </a:solidFill>
                <a:latin typeface="Helvetica Neue"/>
              </a:rPr>
              <a:t>: nunca toca la ventana reciente (por eso el 3003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job_stats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job_history</a:t>
            </a:r>
            <a:r>
              <a:rPr>
                <a:solidFill>
                  <a:srgbClr val="E2E8F0"/>
                </a:solidFill>
                <a:latin typeface="Helvetica Neue"/>
              </a:rPr>
              <a:t> muestran la ejecución en vivo: Success, tiempos, siguiente arranque.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job 1000 · Success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last_run ≈ al crearse, next_start +24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07_explain_queries.sql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vehiculos_gorda (comprimida)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E2E8F0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09_retencion_autopurga.sql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Retención / autopurga: que lo viejo desaparezca solo — job 1001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drop_chunks('vehiculos_gorda',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→ job 1001 (cada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add_retention_policy('vehiculos_gorda',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run_job(1001);   SELECT remove_retention_policy('vehiculos_gorda');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Borra </a:t>
            </a:r>
            <a:r>
              <a:rPr b="1">
                <a:solidFill>
                  <a:srgbClr val="FBBF24"/>
                </a:solidFill>
                <a:latin typeface="Helvetica Neue"/>
              </a:rPr>
              <a:t>chunks completos</a:t>
            </a:r>
            <a:r>
              <a:rPr>
                <a:solidFill>
                  <a:srgbClr val="E2E8F0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range_end</a:t>
            </a:r>
            <a:r>
              <a:rPr>
                <a:solidFill>
                  <a:srgbClr val="E2E8F0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now() - drop_after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FBBF24"/>
                </a:solidFill>
                <a:latin typeface="Helvetica Neue"/>
              </a:rPr>
              <a:t>3 → 2 chunks</a:t>
            </a:r>
            <a:r>
              <a:rPr>
                <a:solidFill>
                  <a:srgbClr val="E2E8F0"/>
                </a:solidFill>
                <a:latin typeface="Helvetica Neue"/>
              </a:rPr>
              <a:t>; la autopurga se llevó exactamente un chunk (</a:t>
            </a:r>
            <a:r>
              <a:rPr b="1">
                <a:solidFill>
                  <a:srgbClr val="FBBF24"/>
                </a:solidFill>
                <a:latin typeface="Helvetica Neue"/>
              </a:rPr>
              <a:t>−518.405 filas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Compresión (1000) y retención (1001) son </a:t>
            </a:r>
            <a:r>
              <a:rPr b="1">
                <a:solidFill>
                  <a:srgbClr val="FBBF24"/>
                </a:solidFill>
                <a:latin typeface="Helvetica Neue"/>
              </a:rPr>
              <a:t>dos jobs distintos que se complementan</a:t>
            </a:r>
            <a:r>
              <a:rPr>
                <a:solidFill>
                  <a:srgbClr val="E2E8F0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FBBF24"/>
                </a:solidFill>
                <a:latin typeface="Helvetica Neue"/>
              </a:rPr>
              <a:t>borro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10_time_bucket.sql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Downsampling: 240 lecturas sueltas → 24 medias horizontales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13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date_trunc</a:t>
            </a:r>
            <a:r>
              <a:rPr>
                <a:solidFill>
                  <a:srgbClr val="E2E8F0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FBBF24"/>
                </a:solidFill>
                <a:latin typeface="Helvetica Neue"/>
              </a:rPr>
              <a:t>parrilla fija</a:t>
            </a:r>
            <a:r>
              <a:rPr>
                <a:solidFill>
                  <a:srgbClr val="E2E8F0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2 hours</a:t>
            </a:r>
            <a:r>
              <a:rPr>
                <a:solidFill>
                  <a:srgbClr val="E2E8F0"/>
                </a:solidFill>
                <a:latin typeface="Helvetica Neue"/>
              </a:rPr>
              <a:t>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90 minutes</a:t>
            </a:r>
            <a:r>
              <a:rPr>
                <a:solidFill>
                  <a:srgbClr val="E2E8F0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FBBF24"/>
                </a:solidFill>
                <a:latin typeface="Helvetica Neue"/>
              </a:rPr>
              <a:t>24 filas</a:t>
            </a:r>
            <a:r>
              <a:rPr>
                <a:solidFill>
                  <a:srgbClr val="E2E8F0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Es el </a:t>
            </a:r>
            <a:r>
              <a:rPr b="1">
                <a:solidFill>
                  <a:srgbClr val="FBBF24"/>
                </a:solidFill>
                <a:latin typeface="Helvetica Neue"/>
              </a:rPr>
              <a:t>ladrillo</a:t>
            </a:r>
            <a:r>
              <a:rPr>
                <a:solidFill>
                  <a:srgbClr val="E2E8F0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lecturas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vel_media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00:00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89,0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11_continuous_aggregates.sql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Continuous aggregates: el resumen precalculado — job 1002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</a:t>
            </a:r>
            <a:r>
              <a:rPr b="1">
                <a:solidFill>
                  <a:srgbClr val="FBBF24"/>
                </a:solidFill>
                <a:latin typeface="Helvetica Neue"/>
              </a:rPr>
              <a:t>vista materializada</a:t>
            </a:r>
            <a:r>
              <a:rPr>
                <a:solidFill>
                  <a:srgbClr val="E2E8F0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E2E8F0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FBBF24"/>
                </a:solidFill>
                <a:latin typeface="Helvetica Neue"/>
              </a:rPr>
              <a:t>por ventanas</a:t>
            </a:r>
            <a:r>
              <a:rPr>
                <a:solidFill>
                  <a:srgbClr val="E2E8F0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E2E8F0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FBBF24"/>
                </a:solidFill>
                <a:latin typeface="Helvetica Neue"/>
              </a:rPr>
              <a:t>94 MB</a:t>
            </a:r>
            <a:r>
              <a:rPr>
                <a:solidFill>
                  <a:srgbClr val="E2E8F0"/>
                </a:solidFill>
                <a:latin typeface="Helvetica Neue"/>
              </a:rPr>
              <a:t> → cagg </a:t>
            </a:r>
            <a:r>
              <a:rPr b="1">
                <a:solidFill>
                  <a:srgbClr val="FBBF24"/>
                </a:solidFill>
                <a:latin typeface="Helvetica Neue"/>
              </a:rPr>
              <a:t>57 MB</a:t>
            </a:r>
            <a:r>
              <a:rPr>
                <a:solidFill>
                  <a:srgbClr val="E2E8F0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FBBF24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E2E8F0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Gotcha 2.30</a:t>
            </a:r>
            <a:r>
              <a:rPr>
                <a:solidFill>
                  <a:srgbClr val="FBBF24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FBBF24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--→ job 1002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12_tuning_gucs.sql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15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Parámetro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Regla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shared_buffers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25 % de la 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~5,7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~75 % de la 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MB / ~1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/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= nº de núcleos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1024 → 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basic → off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timescaledb</a:t>
            </a:r>
            <a:r>
              <a:rPr>
                <a:solidFill>
                  <a:srgbClr val="E2E8F0"/>
                </a:solidFill>
                <a:latin typeface="Helvetica Neue"/>
              </a:rPr>
              <a:t> </a:t>
            </a:r>
            <a:r>
              <a:rPr b="1">
                <a:solidFill>
                  <a:srgbClr val="FBBF24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E2E8F0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13_jobs_personalizados_bonus.sql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Jobs personalizados: Timescale como cron de PostgreSQL — job 1004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16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--→ 1003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run_job(1003);      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alter_job(1003, scheduled =&gt; false);  SELECT delete_job(1003);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  -- recreado → 1004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FBBF24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E2E8F0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E2E8F0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FBBF24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E2E8F0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kpi_velocidad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delete_job</a:t>
            </a:r>
            <a:r>
              <a:rPr>
                <a:solidFill>
                  <a:srgbClr val="E2E8F0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remove_job</a:t>
            </a:r>
            <a:r>
              <a:rPr>
                <a:solidFill>
                  <a:srgbClr val="E2E8F0"/>
                </a:solidFill>
                <a:latin typeface="Helvetica Neue"/>
              </a:rPr>
              <a:t> ya no existe).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círculo de la telemetría: 4 jobs que mantienen viva la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INGESTA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HIPERTABLE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COMPRIME (1000)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AGREGA (1002)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7171"/>
                </a:solidFill>
                <a:latin typeface="Helvetica Neue"/>
              </a:defRPr>
            </a:pPr>
            <a:r>
              <a:rPr>
                <a:solidFill>
                  <a:srgbClr val="F87171"/>
                </a:solidFill>
                <a:latin typeface="Helvetica Neue"/>
              </a:rPr>
              <a:t>BORRA (1001)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 (1004)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Panel final de jobs (todo vivo): </a:t>
            </a:r>
            <a:r>
              <a:rPr b="1">
                <a:solidFill>
                  <a:srgbClr val="FBBF24"/>
                </a:solidFill>
                <a:latin typeface="Helvetica Neue"/>
              </a:rPr>
              <a:t>1000</a:t>
            </a:r>
            <a:r>
              <a:rPr>
                <a:solidFill>
                  <a:srgbClr val="E2E8F0"/>
                </a:solidFill>
                <a:latin typeface="Helvetica Neue"/>
              </a:rPr>
              <a:t> compresión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1001</a:t>
            </a:r>
            <a:r>
              <a:rPr>
                <a:solidFill>
                  <a:srgbClr val="E2E8F0"/>
                </a:solidFill>
                <a:latin typeface="Helvetica Neue"/>
              </a:rPr>
              <a:t> retención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1002</a:t>
            </a:r>
            <a:r>
              <a:rPr>
                <a:solidFill>
                  <a:srgbClr val="E2E8F0"/>
                </a:solidFill>
                <a:latin typeface="Helvetica Neue"/>
              </a:rPr>
              <a:t> refresh cagg · </a:t>
            </a:r>
            <a:r>
              <a:rPr b="1">
                <a:solidFill>
                  <a:srgbClr val="FBBF24"/>
                </a:solidFill>
                <a:latin typeface="Helvetica Neue"/>
              </a:rPr>
              <a:t>1004</a:t>
            </a:r>
            <a:r>
              <a:rPr>
                <a:solidFill>
                  <a:srgbClr val="E2E8F0"/>
                </a:solidFill>
                <a:latin typeface="Helvetica Neue"/>
              </a:rPr>
              <a:t> KPI custom.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FBBF24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FBBF24"/>
                </a:solidFill>
                <a:latin typeface="Helvetica Neue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Comprimir</a:t>
            </a:r>
            <a:r>
              <a:rPr>
                <a:solidFill>
                  <a:srgbClr val="E2E8F0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E2E8F0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E2E8F0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