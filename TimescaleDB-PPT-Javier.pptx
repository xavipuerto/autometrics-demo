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g_elepha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201168"/>
            <a:ext cx="1371600" cy="14147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B45309"/>
                </a:solidFill>
                <a:latin typeface="Helvetica Neue"/>
              </a:defRPr>
            </a:pPr>
            <a:r>
              <a:rPr>
                <a:solidFill>
                  <a:srgbClr val="B45309"/>
                </a:solidFill>
                <a:latin typeface="Helvetica Neue"/>
              </a:rPr>
              <a:t>PRUEBA TÉCNICA · SERIES TEMPORALES SOBRE POSTGRESQL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106984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200" b="1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TimescaleDB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971800"/>
            <a:ext cx="2011680" cy="50292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246120"/>
            <a:ext cx="106984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0E7490"/>
                </a:solidFill>
                <a:latin typeface="Helvetica Neue"/>
              </a:defRPr>
            </a:pPr>
            <a:r>
              <a:rPr>
                <a:solidFill>
                  <a:srgbClr val="0E7490"/>
                </a:solidFill>
                <a:latin typeface="Helvetica Neue"/>
              </a:rPr>
              <a:t>De la telemetría de una flota de coches a la decisión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212080"/>
            <a:ext cx="106984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Javier Aragón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200" b="0">
                <a:solidFill>
                  <a:srgbClr val="6B7280"/>
                </a:solidFill>
                <a:latin typeface="Helvetica Neue"/>
              </a:defRPr>
            </a:pPr>
            <a:r>
              <a:rPr>
                <a:solidFill>
                  <a:srgbClr val="6B7280"/>
                </a:solidFill>
                <a:latin typeface="Helvetica Neue"/>
              </a:rPr>
              <a:t>Arquitecto IT  ·  Idrica · Xylem  ·  javier.aragon.diaz@gmail.com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280"/>
                </a:solidFill>
                <a:latin typeface="Helvetica Neue"/>
              </a:defRPr>
            </a:pPr>
            <a:r>
              <a:rPr>
                <a:solidFill>
                  <a:srgbClr val="6B7280"/>
                </a:solidFill>
                <a:latin typeface="Helvetica Neue"/>
              </a:rPr>
              <a:t>septiembre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g_elepha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201168"/>
            <a:ext cx="1371600" cy="14147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2937"/>
                </a:solidFill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¿Quién os habla?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960120" cy="4114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6510528"/>
            <a:ext cx="11091672" cy="10972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4710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B7280"/>
                </a:solidFill>
                <a:latin typeface="Helvetica Neue"/>
              </a:defRPr>
            </a:pPr>
            <a:r>
              <a:rPr>
                <a:solidFill>
                  <a:srgbClr val="6B7280"/>
                </a:solidFill>
                <a:latin typeface="Helvetica Neue"/>
              </a:rPr>
              <a:t>Javier Aragón  ·  TimescaleDB — de la telemetría a la decisión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547104"/>
            <a:ext cx="15819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B7280"/>
                </a:solidFill>
                <a:latin typeface="Helvetica Neue"/>
              </a:defRPr>
            </a:pPr>
            <a:r>
              <a:rPr>
                <a:solidFill>
                  <a:srgbClr val="6B7280"/>
                </a:solidFill>
                <a:latin typeface="Helvetica Neue"/>
              </a:rPr>
              <a:t>02 /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651760"/>
            <a:ext cx="731520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600" b="0">
                <a:solidFill>
                  <a:srgbClr val="1F2937"/>
                </a:solidFill>
                <a:latin typeface="Helvetica Neue"/>
              </a:defRPr>
            </a:pPr>
            <a:r>
              <a:rPr b="1">
                <a:solidFill>
                  <a:srgbClr val="B45309"/>
                </a:solidFill>
                <a:latin typeface="Helvetica Neue"/>
              </a:rPr>
              <a:t>Javier Aragón</a:t>
            </a:r>
            <a:r>
              <a:rPr>
                <a:solidFill>
                  <a:srgbClr val="1F2937"/>
                </a:solidFill>
                <a:latin typeface="Helvetica Neue"/>
              </a:rPr>
              <a:t> - Arquitecto IT.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600" b="0">
                <a:solidFill>
                  <a:srgbClr val="0E7490"/>
                </a:solidFill>
                <a:latin typeface="Helvetica Neue"/>
              </a:defRPr>
            </a:pPr>
            <a:r>
              <a:rPr>
                <a:solidFill>
                  <a:srgbClr val="0E7490"/>
                </a:solidFill>
                <a:latin typeface="Helvetica Neue"/>
              </a:rPr>
              <a:t>javier.aragon.diaz@gmail.com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600" b="0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Actualmente en </a:t>
            </a:r>
            <a:r>
              <a:rPr b="1">
                <a:solidFill>
                  <a:srgbClr val="B45309"/>
                </a:solidFill>
                <a:latin typeface="Helvetica Neue"/>
              </a:rPr>
              <a:t>Idrica · Xylem</a:t>
            </a:r>
            <a:r>
              <a:rPr>
                <a:solidFill>
                  <a:srgbClr val="1F2937"/>
                </a:solidFill>
                <a:latin typeface="Helvetica Neue"/>
              </a:rPr>
              <a:t> en proyectos de aquí de allá.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 i="1">
                <a:solidFill>
                  <a:srgbClr val="B45309"/>
                </a:solidFill>
                <a:latin typeface="Helvetica Neue"/>
              </a:defRPr>
            </a:pPr>
            <a:r>
              <a:rPr>
                <a:solidFill>
                  <a:srgbClr val="B45309"/>
                </a:solidFill>
                <a:latin typeface="Helvetica Neue"/>
              </a:rPr>
              <a:t>Y cada año, aunque no lo parezca, me siento más junior.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g_elepha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201168"/>
            <a:ext cx="1371600" cy="14147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2937"/>
                </a:solidFill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El viaje: 12 apartados técnicos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960120" cy="4114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6510528"/>
            <a:ext cx="11091672" cy="10972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4710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B7280"/>
                </a:solidFill>
                <a:latin typeface="Helvetica Neue"/>
              </a:defRPr>
            </a:pPr>
            <a:r>
              <a:rPr>
                <a:solidFill>
                  <a:srgbClr val="6B7280"/>
                </a:solidFill>
                <a:latin typeface="Helvetica Neue"/>
              </a:rPr>
              <a:t>Javier Aragón  ·  TimescaleDB — de la telemetría a la decisión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547104"/>
            <a:ext cx="15819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B7280"/>
                </a:solidFill>
                <a:latin typeface="Helvetica Neue"/>
              </a:defRPr>
            </a:pPr>
            <a:r>
              <a:rPr>
                <a:solidFill>
                  <a:srgbClr val="6B7280"/>
                </a:solidFill>
                <a:latin typeface="Helvetica Neue"/>
              </a:rPr>
              <a:t>03 /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48840"/>
            <a:ext cx="539496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  <a:defRPr sz="1400" b="0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01   Hypertables y chunks — la tabla lógica y el trozo físico</a:t>
            </a:r>
          </a:p>
          <a:p>
            <a:pPr algn="l">
              <a:spcBef>
                <a:spcPts val="0"/>
              </a:spcBef>
              <a:spcAft>
                <a:spcPts val="1000"/>
              </a:spcAft>
              <a:defRPr sz="1400" b="0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02   Dimensionado de chunks — 1 día (mal) vs 3 días (bien)</a:t>
            </a:r>
          </a:p>
          <a:p>
            <a:pPr algn="l">
              <a:spcBef>
                <a:spcPts val="0"/>
              </a:spcBef>
              <a:spcAft>
                <a:spcPts val="1000"/>
              </a:spcAft>
              <a:defRPr sz="1400" b="0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03   Compresión nativa — rowstore → columnstore</a:t>
            </a:r>
          </a:p>
          <a:p>
            <a:pPr algn="l">
              <a:spcBef>
                <a:spcPts val="0"/>
              </a:spcBef>
              <a:spcAft>
                <a:spcPts val="1000"/>
              </a:spcAft>
              <a:defRPr sz="1400" b="0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04   Insertar en un chunk comprimido — el overflow</a:t>
            </a:r>
          </a:p>
          <a:p>
            <a:pPr algn="l">
              <a:spcBef>
                <a:spcPts val="0"/>
              </a:spcBef>
              <a:spcAft>
                <a:spcPts val="1000"/>
              </a:spcAft>
              <a:defRPr sz="1400" b="0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05   Política de compresión — el trabajo en segundo plano</a:t>
            </a:r>
          </a:p>
          <a:p>
            <a:pPr algn="l">
              <a:spcBef>
                <a:spcPts val="0"/>
              </a:spcBef>
              <a:spcAft>
                <a:spcPts val="1000"/>
              </a:spcAft>
              <a:defRPr sz="1400" b="0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06   Pruning — el filtro entra en 1 de 1.500 chunks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2148840"/>
            <a:ext cx="539496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  <a:defRPr sz="1400" b="0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07   Retención / autopurga — el historial se borra solo</a:t>
            </a:r>
          </a:p>
          <a:p>
            <a:pPr algn="l">
              <a:spcBef>
                <a:spcPts val="0"/>
              </a:spcBef>
              <a:spcAft>
                <a:spcPts val="1000"/>
              </a:spcAft>
              <a:defRPr sz="1400" b="0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08   time_bucket — downsampling 240 → 24</a:t>
            </a:r>
          </a:p>
          <a:p>
            <a:pPr algn="l">
              <a:spcBef>
                <a:spcPts val="0"/>
              </a:spcBef>
              <a:spcAft>
                <a:spcPts val="1000"/>
              </a:spcAft>
              <a:defRPr sz="1400" b="0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09   Continuous aggregates — el resumen precalculado</a:t>
            </a:r>
          </a:p>
          <a:p>
            <a:pPr algn="l">
              <a:spcBef>
                <a:spcPts val="0"/>
              </a:spcBef>
              <a:spcAft>
                <a:spcPts val="1000"/>
              </a:spcAft>
              <a:defRPr sz="1400" b="0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10   Jobs personalizados — Timescale como cron</a:t>
            </a:r>
          </a:p>
          <a:p>
            <a:pPr algn="l">
              <a:spcBef>
                <a:spcPts val="0"/>
              </a:spcBef>
              <a:spcAft>
                <a:spcPts val="1000"/>
              </a:spcAft>
              <a:defRPr sz="1400" b="0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11   Tuning de parámetros — Timescale + PostgreSQL</a:t>
            </a:r>
          </a:p>
          <a:p>
            <a:pPr algn="l">
              <a:spcBef>
                <a:spcPts val="0"/>
              </a:spcBef>
              <a:spcAft>
                <a:spcPts val="1000"/>
              </a:spcAft>
              <a:defRPr sz="1400" b="0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12   El círculo de la telemetría — resumen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17220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 i="1">
                <a:solidFill>
                  <a:srgbClr val="6B7280"/>
                </a:solidFill>
                <a:latin typeface="Helvetica Neue"/>
              </a:defRPr>
            </a:pPr>
            <a:r>
              <a:rPr>
                <a:solidFill>
                  <a:srgbClr val="6B7280"/>
                </a:solidFill>
                <a:latin typeface="Helvetica Neue"/>
              </a:rPr>
              <a:t>Todas las cifras salen de la recreación del entorno desde cero (sept 2026).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g_elepha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201168"/>
            <a:ext cx="1371600" cy="14147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2937"/>
                </a:solidFill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TimescaleDB: el dato de serie temporal nativo de PostgreSQL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960120" cy="4114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6510528"/>
            <a:ext cx="11091672" cy="10972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4710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B7280"/>
                </a:solidFill>
                <a:latin typeface="Helvetica Neue"/>
              </a:defRPr>
            </a:pPr>
            <a:r>
              <a:rPr>
                <a:solidFill>
                  <a:srgbClr val="6B7280"/>
                </a:solidFill>
                <a:latin typeface="Helvetica Neue"/>
              </a:rPr>
              <a:t>Javier Aragón  ·  TimescaleDB — de la telemetría a la decisión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547104"/>
            <a:ext cx="15819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B7280"/>
                </a:solidFill>
                <a:latin typeface="Helvetica Neue"/>
              </a:defRPr>
            </a:pPr>
            <a:r>
              <a:rPr>
                <a:solidFill>
                  <a:srgbClr val="6B7280"/>
                </a:solidFill>
                <a:latin typeface="Helvetica Neue"/>
              </a:rPr>
              <a:t>04 /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874519"/>
            <a:ext cx="7498079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defRPr sz="1500" b="0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Es una </a:t>
            </a:r>
            <a:r>
              <a:rPr b="1">
                <a:solidFill>
                  <a:srgbClr val="B45309"/>
                </a:solidFill>
                <a:latin typeface="Helvetica Neue"/>
              </a:rPr>
              <a:t>extensión de PostgreSQL</a:t>
            </a:r>
            <a:r>
              <a:rPr>
                <a:solidFill>
                  <a:srgbClr val="1F2937"/>
                </a:solidFill>
                <a:latin typeface="Helvetica Neue"/>
              </a:rPr>
              <a:t> (</a:t>
            </a:r>
            <a:r>
              <a:rPr sz="1500" b="1">
                <a:solidFill>
                  <a:srgbClr val="0E7490"/>
                </a:solidFill>
                <a:latin typeface="Helvetica Neue"/>
              </a:rPr>
              <a:t>CREATE EXTENSION timescaledb;</a:t>
            </a:r>
            <a:r>
              <a:rPr>
                <a:solidFill>
                  <a:srgbClr val="1F2937"/>
                </a:solidFill>
                <a:latin typeface="Helvetica Neue"/>
              </a:rPr>
              <a:t>), no un motor aparte: SQL, </a:t>
            </a:r>
            <a:r>
              <a:rPr sz="1500" b="1">
                <a:solidFill>
                  <a:srgbClr val="0E7490"/>
                </a:solidFill>
                <a:latin typeface="Helvetica Neue"/>
              </a:rPr>
              <a:t>EXPLAIN</a:t>
            </a:r>
            <a:r>
              <a:rPr>
                <a:solidFill>
                  <a:srgbClr val="1F2937"/>
                </a:solidFill>
                <a:latin typeface="Helvetica Neue"/>
              </a:rPr>
              <a:t> y catálogo son los de siempre.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1500" b="0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Cubre la necesidad que nos trae aquí: </a:t>
            </a:r>
            <a:r>
              <a:rPr b="1">
                <a:solidFill>
                  <a:srgbClr val="B45309"/>
                </a:solidFill>
                <a:latin typeface="Helvetica Neue"/>
              </a:rPr>
              <a:t>lecturas que llegan sin parar</a:t>
            </a:r>
            <a:r>
              <a:rPr>
                <a:solidFill>
                  <a:srgbClr val="1F2937"/>
                </a:solidFill>
                <a:latin typeface="Helvetica Neue"/>
              </a:rPr>
              <a:t> — IoT, telemetría de flota, métricas, datos financieros — que hay que guardar, consultar por ventanas de tiempo y ordenar su ciclo de vida.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1500" b="0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Y lo hace </a:t>
            </a:r>
            <a:r>
              <a:rPr b="1">
                <a:solidFill>
                  <a:srgbClr val="B45309"/>
                </a:solidFill>
                <a:latin typeface="Helvetica Neue"/>
              </a:rPr>
              <a:t>sin cambiar de base de datos</a:t>
            </a:r>
            <a:r>
              <a:rPr>
                <a:solidFill>
                  <a:srgbClr val="1F2937"/>
                </a:solidFill>
                <a:latin typeface="Helvetica Neue"/>
              </a:rPr>
              <a:t>: si ya usas PostgreSQL, lo añades y ya.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¿Y probarlo en la nube sin instalar nada? </a:t>
            </a:r>
            <a:r>
              <a:rPr b="1">
                <a:solidFill>
                  <a:srgbClr val="B45309"/>
                </a:solidFill>
                <a:latin typeface="Helvetica Neue"/>
              </a:rPr>
              <a:t>Tiger Cloud</a:t>
            </a:r>
            <a:r>
              <a:rPr>
                <a:solidFill>
                  <a:srgbClr val="1F2937"/>
                </a:solidFill>
                <a:latin typeface="Helvetica Neue"/>
              </a:rPr>
              <a:t> — la plataforma gestionada de la compañía (hoy *TigerData*) — provisiona un PostgreSQL + TimescaleDB en minutos, con </a:t>
            </a:r>
            <a:r>
              <a:rPr b="1">
                <a:solidFill>
                  <a:srgbClr val="B45309"/>
                </a:solidFill>
                <a:latin typeface="Helvetica Neue"/>
              </a:rPr>
              <a:t>30 días de prueba gratis sin tarjeta</a:t>
            </a:r>
            <a:r>
              <a:rPr>
                <a:solidFill>
                  <a:srgbClr val="1F2937"/>
                </a:solidFill>
                <a:latin typeface="Helvetica Neue"/>
              </a:rPr>
              <a:t>. Esta misma demo corre ahí igual.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874519"/>
            <a:ext cx="3611880" cy="338328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20" y="2103120"/>
            <a:ext cx="3154680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defRPr sz="1400" b="1">
                <a:solidFill>
                  <a:srgbClr val="B45309"/>
                </a:solidFill>
                <a:latin typeface="Helvetica Neue"/>
              </a:defRPr>
            </a:pPr>
            <a:r>
              <a:rPr>
                <a:solidFill>
                  <a:srgbClr val="B45309"/>
                </a:solidFill>
                <a:latin typeface="Helvetica Neue"/>
              </a:rPr>
              <a:t>Lo que aporta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200" b="0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· Hipertables: una tabla lógica, particiones por tiempo por dentro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200" b="0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· Compresión nativa de los bloques viejos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200" b="0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· Agregados continuos precalculados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200" b="0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· Retención y autopurga del histórico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1200" b="0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· Jobs de fondo con cualquier SQL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00" b="0" i="1">
                <a:solidFill>
                  <a:srgbClr val="6B7280"/>
                </a:solidFill>
                <a:latin typeface="Helvetica Neue"/>
              </a:defRPr>
            </a:pPr>
            <a:r>
              <a:rPr>
                <a:solidFill>
                  <a:srgbClr val="6B7280"/>
                </a:solidFill>
                <a:latin typeface="Helvetica Neue"/>
              </a:rPr>
              <a:t>Y por debajo, el PostgreSQL que ya conoces.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779008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 i="1">
                <a:solidFill>
                  <a:srgbClr val="6B7280"/>
                </a:solidFill>
                <a:latin typeface="Helvetica Neue"/>
              </a:defRPr>
            </a:pPr>
            <a:r>
              <a:rPr>
                <a:solidFill>
                  <a:srgbClr val="6B7280"/>
                </a:solidFill>
                <a:latin typeface="Helvetica Neue"/>
              </a:rPr>
              <a:t>Mismo SQL, mismo EXPLAIN, mismo catálogo: la diferencia es lo que el motor hace con las tablas por dentro — local o en la nube.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g_elepha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201168"/>
            <a:ext cx="1371600" cy="14147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2937"/>
                </a:solidFill>
              </a:defRPr>
            </a:pPr>
            <a:r>
              <a:rPr sz="3000" b="1">
                <a:solidFill>
                  <a:srgbClr val="0E7490"/>
                </a:solidFill>
                <a:latin typeface="Helvetica Neue"/>
              </a:rPr>
              <a:t>01_ddl.sql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B7280"/>
                </a:solidFill>
                <a:latin typeface="Helvetica Neue"/>
              </a:defRPr>
            </a:pPr>
            <a:r>
              <a:rPr>
                <a:solidFill>
                  <a:srgbClr val="6B7280"/>
                </a:solidFill>
                <a:latin typeface="Helvetica Neue"/>
              </a:rPr>
              <a:t>Hypertables y chunks: la tabla lógica y el trozo físico por franja de tiempo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868680"/>
            <a:ext cx="960120" cy="4114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6510528"/>
            <a:ext cx="11091672" cy="10972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4710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B7280"/>
                </a:solidFill>
                <a:latin typeface="Helvetica Neue"/>
              </a:defRPr>
            </a:pPr>
            <a:r>
              <a:rPr>
                <a:solidFill>
                  <a:srgbClr val="6B7280"/>
                </a:solidFill>
                <a:latin typeface="Helvetica Neue"/>
              </a:rPr>
              <a:t>Javier Aragón  ·  TimescaleDB — de la telemetría a la decisión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547104"/>
            <a:ext cx="15819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B7280"/>
                </a:solidFill>
                <a:latin typeface="Helvetica Neue"/>
              </a:defRPr>
            </a:pPr>
            <a:r>
              <a:rPr>
                <a:solidFill>
                  <a:srgbClr val="6B7280"/>
                </a:solidFill>
                <a:latin typeface="Helvetica Neue"/>
              </a:rPr>
              <a:t>05 / 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920240"/>
            <a:ext cx="7498079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500" b="0">
                <a:solidFill>
                  <a:srgbClr val="1F2937"/>
                </a:solidFill>
                <a:latin typeface="Helvetica Neue"/>
              </a:defRPr>
            </a:pPr>
            <a:r>
              <a:rPr b="1">
                <a:solidFill>
                  <a:srgbClr val="B45309"/>
                </a:solidFill>
                <a:latin typeface="Helvetica Neue"/>
              </a:rPr>
              <a:t>Hypertable</a:t>
            </a:r>
            <a:r>
              <a:rPr>
                <a:solidFill>
                  <a:srgbClr val="1F2937"/>
                </a:solidFill>
                <a:latin typeface="Helvetica Neue"/>
              </a:rPr>
              <a:t>: la tabla que tu SQL ve (la misma </a:t>
            </a:r>
            <a:r>
              <a:rPr sz="1500" b="1">
                <a:solidFill>
                  <a:srgbClr val="0E7490"/>
                </a:solidFill>
                <a:latin typeface="Helvetica Neue"/>
              </a:rPr>
              <a:t>CREATE TABLE</a:t>
            </a:r>
            <a:r>
              <a:rPr>
                <a:solidFill>
                  <a:srgbClr val="1F2937"/>
                </a:solidFill>
                <a:latin typeface="Helvetica Neue"/>
              </a:rPr>
              <a:t>).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500" b="0">
                <a:solidFill>
                  <a:srgbClr val="1F2937"/>
                </a:solidFill>
                <a:latin typeface="Helvetica Neue"/>
              </a:defRPr>
            </a:pPr>
            <a:r>
              <a:rPr b="1">
                <a:solidFill>
                  <a:srgbClr val="B45309"/>
                </a:solidFill>
                <a:latin typeface="Helvetica Neue"/>
              </a:rPr>
              <a:t>Chunk</a:t>
            </a:r>
            <a:r>
              <a:rPr>
                <a:solidFill>
                  <a:srgbClr val="1F2937"/>
                </a:solidFill>
                <a:latin typeface="Helvetica Neue"/>
              </a:rPr>
              <a:t>: cada partición temporal es una tabla física escondida en </a:t>
            </a:r>
            <a:r>
              <a:rPr sz="1500" b="1">
                <a:solidFill>
                  <a:srgbClr val="0E7490"/>
                </a:solidFill>
                <a:latin typeface="Helvetica Neue"/>
              </a:rPr>
              <a:t>_timescaledb_internal</a:t>
            </a:r>
            <a:r>
              <a:rPr>
                <a:solidFill>
                  <a:srgbClr val="1F2937"/>
                </a:solidFill>
                <a:latin typeface="Helvetica Neue"/>
              </a:rPr>
              <a:t> (o en tu esquema).</a:t>
            </a:r>
          </a:p>
          <a:p>
            <a:pPr algn="l">
              <a:spcBef>
                <a:spcPts val="0"/>
              </a:spcBef>
              <a:spcAft>
                <a:spcPts val="1000"/>
              </a:spcAft>
              <a:defRPr sz="1500" b="0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El particionado lo decide </a:t>
            </a:r>
            <a:r>
              <a:rPr sz="1500" b="1">
                <a:solidFill>
                  <a:srgbClr val="0E7490"/>
                </a:solidFill>
                <a:latin typeface="Helvetica Neue"/>
              </a:rPr>
              <a:t>chunk_time_interval</a:t>
            </a:r>
            <a:r>
              <a:rPr>
                <a:solidFill>
                  <a:srgbClr val="1F2937"/>
                </a:solidFill>
                <a:latin typeface="Helvetica Neue"/>
              </a:rPr>
              <a:t>: nosotros usamos </a:t>
            </a:r>
            <a:r>
              <a:rPr b="1">
                <a:solidFill>
                  <a:srgbClr val="B45309"/>
                </a:solidFill>
                <a:latin typeface="Helvetica Neue"/>
              </a:rPr>
              <a:t>1 día</a:t>
            </a:r>
            <a:r>
              <a:rPr>
                <a:solidFill>
                  <a:srgbClr val="1F2937"/>
                </a:solidFill>
                <a:latin typeface="Helvetica Neue"/>
              </a:rPr>
              <a:t> en </a:t>
            </a:r>
            <a:r>
              <a:rPr sz="1500" b="1">
                <a:solidFill>
                  <a:srgbClr val="0E7490"/>
                </a:solidFill>
                <a:latin typeface="Helvetica Neue"/>
              </a:rPr>
              <a:t>vehiculos_ts</a:t>
            </a:r>
            <a:r>
              <a:rPr>
                <a:solidFill>
                  <a:srgbClr val="1F2937"/>
                </a:solidFill>
                <a:latin typeface="Helvetica Neue"/>
              </a:rPr>
              <a:t>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794760"/>
            <a:ext cx="7680960" cy="1490472"/>
          </a:xfrm>
          <a:prstGeom prst="roundRect">
            <a:avLst>
              <a:gd name="adj" fmla="val 6000"/>
            </a:avLst>
          </a:prstGeom>
          <a:solidFill>
            <a:srgbClr val="0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931920"/>
            <a:ext cx="7223760" cy="121615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7DD3FC"/>
                </a:solidFill>
                <a:latin typeface="Menlo"/>
              </a:defRPr>
            </a:pPr>
            <a:r>
              <a:rPr>
                <a:solidFill>
                  <a:srgbClr val="7DD3FC"/>
                </a:solidFill>
                <a:latin typeface="Helvetica Neue"/>
              </a:rPr>
              <a:t>SELECT create_hypertable('vehiculos_ts', 'ts',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7DD3FC"/>
                </a:solidFill>
                <a:latin typeface="Menlo"/>
              </a:defRPr>
            </a:pPr>
            <a:r>
              <a:rPr>
                <a:solidFill>
                  <a:srgbClr val="7DD3FC"/>
                </a:solidFill>
                <a:latin typeface="Helvetica Neue"/>
              </a:rPr>
              <a:t>       chunk_time_interval =&gt; INTERVAL '1 day');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7DD3FC"/>
                </a:solidFill>
                <a:latin typeface="Menlo"/>
              </a:defRPr>
            </a:pP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7DD3FC"/>
                </a:solidFill>
                <a:latin typeface="Menlo"/>
              </a:defRPr>
            </a:pPr>
            <a:r>
              <a:rPr>
                <a:solidFill>
                  <a:srgbClr val="7DD3FC"/>
                </a:solidFill>
                <a:latin typeface="Helvetica Neue"/>
              </a:rPr>
              <a:t>-- Con associated_schema_name =&gt; 'particiones' los chunks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7DD3FC"/>
                </a:solidFill>
                <a:latin typeface="Menlo"/>
              </a:defRPr>
            </a:pPr>
            <a:r>
              <a:rPr>
                <a:solidFill>
                  <a:srgbClr val="7DD3FC"/>
                </a:solidFill>
                <a:latin typeface="Helvetica Neue"/>
              </a:rPr>
              <a:t>-- viven en tu esquema con nombre derivado: vehiculos_part_*_chunk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2011680"/>
            <a:ext cx="3657600" cy="274320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20" y="2240280"/>
            <a:ext cx="320040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1">
                <a:solidFill>
                  <a:srgbClr val="B45309"/>
                </a:solidFill>
                <a:latin typeface="Helvetica Neue"/>
              </a:defRPr>
            </a:pPr>
            <a:r>
              <a:rPr>
                <a:solidFill>
                  <a:srgbClr val="B45309"/>
                </a:solidFill>
                <a:latin typeface="Helvetica Neue"/>
              </a:rPr>
              <a:t>Resultado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200" b="0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Para tu SQL es la misma tabla de siempre; por dentro, cada franja de tiempo es un trozo físico.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200" b="0">
                <a:solidFill>
                  <a:srgbClr val="6B7280"/>
                </a:solidFill>
                <a:latin typeface="Helvetica Neue"/>
              </a:defRPr>
            </a:pPr>
            <a:r>
              <a:rPr>
                <a:solidFill>
                  <a:srgbClr val="6B7280"/>
                </a:solidFill>
                <a:latin typeface="Helvetica Neue"/>
              </a:rPr>
              <a:t>A dónde viven y cómo se llaman los chunks lo decide Timescale: </a:t>
            </a:r>
            <a:r>
              <a:rPr sz="1200" b="1">
                <a:solidFill>
                  <a:srgbClr val="0E7490"/>
                </a:solidFill>
                <a:latin typeface="Helvetica Neue"/>
              </a:rPr>
              <a:t>vehiculos_part_*_chunk</a:t>
            </a:r>
            <a:r>
              <a:rPr>
                <a:solidFill>
                  <a:srgbClr val="6B7280"/>
                </a:solidFill>
                <a:latin typeface="Helvetica Neue"/>
              </a:rPr>
              <a:t> en tu esquema, </a:t>
            </a:r>
            <a:r>
              <a:rPr sz="1200" b="1">
                <a:solidFill>
                  <a:srgbClr val="0E7490"/>
                </a:solidFill>
                <a:latin typeface="Helvetica Neue"/>
              </a:rPr>
              <a:t>_hyper_*</a:t>
            </a:r>
            <a:r>
              <a:rPr>
                <a:solidFill>
                  <a:srgbClr val="6B7280"/>
                </a:solidFill>
                <a:latin typeface="Helvetica Neue"/>
              </a:rPr>
              <a:t> por defecto.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280"/>
                </a:solidFill>
                <a:latin typeface="Helvetica Neue"/>
              </a:defRPr>
            </a:pPr>
            <a:r>
              <a:rPr>
                <a:solidFill>
                  <a:srgbClr val="6B7280"/>
                </a:solidFill>
                <a:latin typeface="Helvetica Neue"/>
              </a:rPr>
              <a:t>Ver los chunks: </a:t>
            </a:r>
            <a:r>
              <a:rPr sz="1100" b="1">
                <a:solidFill>
                  <a:srgbClr val="0E7490"/>
                </a:solidFill>
                <a:latin typeface="Helvetica Neue"/>
              </a:rPr>
              <a:t>timescaledb_information.chunks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g_elepha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201168"/>
            <a:ext cx="1371600" cy="14147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2937"/>
                </a:solidFill>
              </a:defRPr>
            </a:pPr>
            <a:r>
              <a:rPr sz="3000" b="1">
                <a:solidFill>
                  <a:srgbClr val="0E7490"/>
                </a:solidFill>
                <a:latin typeface="Helvetica Neue"/>
              </a:rPr>
              <a:t>02_grande.sql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B7280"/>
                </a:solidFill>
                <a:latin typeface="Helvetica Neue"/>
              </a:defRPr>
            </a:pPr>
            <a:r>
              <a:rPr>
                <a:solidFill>
                  <a:srgbClr val="6B7280"/>
                </a:solidFill>
                <a:latin typeface="Helvetica Neue"/>
              </a:rPr>
              <a:t>Dimensionar el chunk: la decisión que marca la diferencia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868680"/>
            <a:ext cx="960120" cy="4114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6510528"/>
            <a:ext cx="11091672" cy="10972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4710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B7280"/>
                </a:solidFill>
                <a:latin typeface="Helvetica Neue"/>
              </a:defRPr>
            </a:pPr>
            <a:r>
              <a:rPr>
                <a:solidFill>
                  <a:srgbClr val="6B7280"/>
                </a:solidFill>
                <a:latin typeface="Helvetica Neue"/>
              </a:rPr>
              <a:t>Javier Aragón  ·  TimescaleDB — de la telemetría a la decisión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547104"/>
            <a:ext cx="15819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B7280"/>
                </a:solidFill>
                <a:latin typeface="Helvetica Neue"/>
              </a:defRPr>
            </a:pPr>
            <a:r>
              <a:rPr>
                <a:solidFill>
                  <a:srgbClr val="6B7280"/>
                </a:solidFill>
                <a:latin typeface="Helvetica Neue"/>
              </a:rPr>
              <a:t>06 / 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057400"/>
            <a:ext cx="7498079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defRPr sz="1400" b="0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·  Trocear muy fino dispara el </a:t>
            </a:r>
            <a:r>
              <a:rPr b="1">
                <a:solidFill>
                  <a:srgbClr val="B45309"/>
                </a:solidFill>
                <a:latin typeface="Helvetica Neue"/>
              </a:rPr>
              <a:t>overhead por chunk</a:t>
            </a:r>
            <a:r>
              <a:rPr>
                <a:solidFill>
                  <a:srgbClr val="1F2937"/>
                </a:solidFill>
                <a:latin typeface="Helvetica Neue"/>
              </a:rPr>
              <a:t>: cada trozo físico es una tabla, con sus metadatos, índices y páginas propias — más trozos, más gasto fijo.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1400" b="0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·  </a:t>
            </a:r>
            <a:r>
              <a:rPr b="1">
                <a:solidFill>
                  <a:srgbClr val="B45309"/>
                </a:solidFill>
                <a:latin typeface="Helvetica Neue"/>
              </a:rPr>
              <a:t>Regla práctica</a:t>
            </a:r>
            <a:r>
              <a:rPr>
                <a:solidFill>
                  <a:srgbClr val="1F2937"/>
                </a:solidFill>
                <a:latin typeface="Helvetica Neue"/>
              </a:rPr>
              <a:t>: un chunk debe cubrir ~</a:t>
            </a:r>
            <a:r>
              <a:rPr b="1">
                <a:solidFill>
                  <a:srgbClr val="B45309"/>
                </a:solidFill>
                <a:latin typeface="Helvetica Neue"/>
              </a:rPr>
              <a:t>10-20 min de tu buffer target</a:t>
            </a:r>
            <a:r>
              <a:rPr>
                <a:solidFill>
                  <a:srgbClr val="1F2937"/>
                </a:solidFill>
                <a:latin typeface="Helvetica Neue"/>
              </a:rPr>
              <a:t> de ingesta constante; menos chunks y más grandes reducen ese gasto.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1400" b="0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·  La demo juega con ambos a propósito: el "mal dimensionado" (un chunk por día) y el "correcto" (tres días por chunk) nos sirven para ver el efecto en el EXPLAIN.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2057400"/>
            <a:ext cx="3611880" cy="251460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2331720"/>
            <a:ext cx="315468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1">
                <a:solidFill>
                  <a:srgbClr val="B45309"/>
                </a:solidFill>
                <a:latin typeface="Helvetica Neue"/>
              </a:defRPr>
            </a:pPr>
            <a:r>
              <a:rPr>
                <a:solidFill>
                  <a:srgbClr val="B45309"/>
                </a:solidFill>
                <a:latin typeface="Helvetica Neue"/>
              </a:rPr>
              <a:t>Para la telemetría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200" b="0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Un chunk debe cubrir ~10-20 min de la ingesta constante que quepa en tus buffers.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En flota: una franja de 3 días por chunk da chunks con oficio.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g_elepha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201168"/>
            <a:ext cx="1371600" cy="14147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2937"/>
                </a:solidFill>
              </a:defRPr>
            </a:pPr>
            <a:r>
              <a:rPr sz="3000" b="1">
                <a:solidFill>
                  <a:srgbClr val="0E7490"/>
                </a:solidFill>
                <a:latin typeface="Helvetica Neue"/>
              </a:rPr>
              <a:t>03_compresion.sql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B7280"/>
                </a:solidFill>
                <a:latin typeface="Helvetica Neue"/>
              </a:defRPr>
            </a:pPr>
            <a:r>
              <a:rPr>
                <a:solidFill>
                  <a:srgbClr val="6B7280"/>
                </a:solidFill>
                <a:latin typeface="Helvetica Neue"/>
              </a:rPr>
              <a:t>Compresión nativa: la tabla fila se convierte en columnas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868680"/>
            <a:ext cx="960120" cy="4114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6510528"/>
            <a:ext cx="11091672" cy="10972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4710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B7280"/>
                </a:solidFill>
                <a:latin typeface="Helvetica Neue"/>
              </a:defRPr>
            </a:pPr>
            <a:r>
              <a:rPr>
                <a:solidFill>
                  <a:srgbClr val="6B7280"/>
                </a:solidFill>
                <a:latin typeface="Helvetica Neue"/>
              </a:rPr>
              <a:t>Javier Aragón  ·  TimescaleDB — de la telemetría a la decisión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547104"/>
            <a:ext cx="15819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B7280"/>
                </a:solidFill>
                <a:latin typeface="Helvetica Neue"/>
              </a:defRPr>
            </a:pPr>
            <a:r>
              <a:rPr>
                <a:solidFill>
                  <a:srgbClr val="6B7280"/>
                </a:solidFill>
                <a:latin typeface="Helvetica Neue"/>
              </a:rPr>
              <a:t>07 / 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965960"/>
            <a:ext cx="731520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500" b="0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Cada chunk comprimido pasa a ser un </a:t>
            </a:r>
            <a:r>
              <a:rPr b="1">
                <a:solidFill>
                  <a:srgbClr val="B45309"/>
                </a:solidFill>
                <a:latin typeface="Helvetica Neue"/>
              </a:rPr>
              <a:t>columnstore</a:t>
            </a:r>
            <a:r>
              <a:rPr>
                <a:solidFill>
                  <a:srgbClr val="1F2937"/>
                </a:solidFill>
                <a:latin typeface="Helvetica Neue"/>
              </a:rPr>
              <a:t> (</a:t>
            </a:r>
            <a:r>
              <a:rPr sz="1500" b="1">
                <a:solidFill>
                  <a:srgbClr val="0E7490"/>
                </a:solidFill>
                <a:latin typeface="Helvetica Neue"/>
              </a:rPr>
              <a:t>..._chunk_compressed</a:t>
            </a:r>
            <a:r>
              <a:rPr>
                <a:solidFill>
                  <a:srgbClr val="1F2937"/>
                </a:solidFill>
                <a:latin typeface="Helvetica Neue"/>
              </a:rPr>
              <a:t>) y es </a:t>
            </a:r>
            <a:r>
              <a:rPr b="1">
                <a:solidFill>
                  <a:srgbClr val="B45309"/>
                </a:solidFill>
                <a:latin typeface="Helvetica Neue"/>
              </a:rPr>
              <a:t>lossless</a:t>
            </a:r>
            <a:r>
              <a:rPr>
                <a:solidFill>
                  <a:srgbClr val="1F2937"/>
                </a:solidFill>
                <a:latin typeface="Helvetica Neue"/>
              </a:rPr>
              <a:t> (pérdida cero): </a:t>
            </a:r>
            <a:r>
              <a:rPr sz="1500" b="1">
                <a:solidFill>
                  <a:srgbClr val="0E7490"/>
                </a:solidFill>
                <a:latin typeface="Helvetica Neue"/>
              </a:rPr>
              <a:t>count(*)</a:t>
            </a:r>
            <a:r>
              <a:rPr>
                <a:solidFill>
                  <a:srgbClr val="1F2937"/>
                </a:solidFill>
                <a:latin typeface="Helvetica Neue"/>
              </a:rPr>
              <a:t> se mantiene.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Algoritmo por defecto: Timescale lo elige solo al comprimir, </a:t>
            </a:r>
            <a:r>
              <a:rPr b="1">
                <a:solidFill>
                  <a:srgbClr val="B45309"/>
                </a:solidFill>
                <a:latin typeface="Helvetica Neue"/>
              </a:rPr>
              <a:t>según el tipo de cada columna</a:t>
            </a:r>
            <a:r>
              <a:rPr>
                <a:solidFill>
                  <a:srgbClr val="1F2937"/>
                </a:solidFill>
                <a:latin typeface="Helvetica Neue"/>
              </a:rPr>
              <a:t> (catálogo 2.30):</a:t>
            </a:r>
          </a:p>
          <a:p>
            <a:pPr algn="l" lvl="1">
              <a:spcBef>
                <a:spcPts val="0"/>
              </a:spcBef>
              <a:spcAft>
                <a:spcPts val="200"/>
              </a:spcAft>
              <a:defRPr sz="1300" b="0">
                <a:solidFill>
                  <a:srgbClr val="1F2937"/>
                </a:solidFill>
                <a:latin typeface="Helvetica Neue"/>
              </a:defRPr>
            </a:pPr>
            <a:r>
              <a:rPr sz="1300" b="1">
                <a:solidFill>
                  <a:srgbClr val="0E7490"/>
                </a:solidFill>
                <a:latin typeface="Helvetica Neue"/>
              </a:rPr>
              <a:t>DELTADELTA</a:t>
            </a:r>
            <a:r>
              <a:rPr>
                <a:solidFill>
                  <a:srgbClr val="1F2937"/>
                </a:solidFill>
                <a:latin typeface="Helvetica Neue"/>
              </a:rPr>
              <a:t> + simple-8b + RLE → enteros y timestamps (el </a:t>
            </a:r>
            <a:r>
              <a:rPr sz="1300" b="1">
                <a:solidFill>
                  <a:srgbClr val="0E7490"/>
                </a:solidFill>
                <a:latin typeface="Helvetica Neue"/>
              </a:rPr>
              <a:t>ts</a:t>
            </a:r>
            <a:r>
              <a:rPr>
                <a:solidFill>
                  <a:srgbClr val="1F2937"/>
                </a:solidFill>
                <a:latin typeface="Helvetica Neue"/>
              </a:rPr>
              <a:t> pasa de 64 bits a ~1)</a:t>
            </a:r>
          </a:p>
          <a:p>
            <a:pPr algn="l" lvl="1">
              <a:spcBef>
                <a:spcPts val="0"/>
              </a:spcBef>
              <a:spcAft>
                <a:spcPts val="200"/>
              </a:spcAft>
              <a:defRPr sz="1300" b="0">
                <a:solidFill>
                  <a:srgbClr val="1F2937"/>
                </a:solidFill>
                <a:latin typeface="Helvetica Neue"/>
              </a:defRPr>
            </a:pPr>
            <a:r>
              <a:rPr sz="1300" b="1">
                <a:solidFill>
                  <a:srgbClr val="0E7490"/>
                </a:solidFill>
                <a:latin typeface="Helvetica Neue"/>
              </a:rPr>
              <a:t>GORILLA</a:t>
            </a:r>
            <a:r>
              <a:rPr>
                <a:solidFill>
                  <a:srgbClr val="1F2937"/>
                </a:solidFill>
                <a:latin typeface="Helvetica Neue"/>
              </a:rPr>
              <a:t> (XOR) → flotantes: velocidad, presiones, temperaturas</a:t>
            </a:r>
          </a:p>
          <a:p>
            <a:pPr algn="l" lvl="1">
              <a:spcBef>
                <a:spcPts val="0"/>
              </a:spcBef>
              <a:spcAft>
                <a:spcPts val="200"/>
              </a:spcAft>
              <a:defRPr sz="1300" b="0">
                <a:solidFill>
                  <a:srgbClr val="1F2937"/>
                </a:solidFill>
                <a:latin typeface="Helvetica Neue"/>
              </a:defRPr>
            </a:pPr>
            <a:r>
              <a:rPr sz="1300" b="1">
                <a:solidFill>
                  <a:srgbClr val="0E7490"/>
                </a:solidFill>
                <a:latin typeface="Helvetica Neue"/>
              </a:rPr>
              <a:t>DICTIONARY</a:t>
            </a:r>
            <a:r>
              <a:rPr>
                <a:solidFill>
                  <a:srgbClr val="1F2937"/>
                </a:solidFill>
                <a:latin typeface="Helvetica Neue"/>
              </a:rPr>
              <a:t> → baja cardinalidad: </a:t>
            </a:r>
            <a:r>
              <a:rPr sz="1300" b="1">
                <a:solidFill>
                  <a:srgbClr val="0E7490"/>
                </a:solidFill>
                <a:latin typeface="Helvetica Neue"/>
              </a:rPr>
              <a:t>auto_id</a:t>
            </a:r>
          </a:p>
          <a:p>
            <a:pPr algn="l" lvl="1">
              <a:spcBef>
                <a:spcPts val="0"/>
              </a:spcBef>
              <a:spcAft>
                <a:spcPts val="800"/>
              </a:spcAft>
              <a:defRPr sz="1300" b="0">
                <a:solidFill>
                  <a:srgbClr val="1F2937"/>
                </a:solidFill>
                <a:latin typeface="Helvetica Neue"/>
              </a:defRPr>
            </a:pPr>
            <a:r>
              <a:rPr sz="1300" b="1">
                <a:solidFill>
                  <a:srgbClr val="0E7490"/>
                </a:solidFill>
                <a:latin typeface="Helvetica Neue"/>
              </a:rPr>
              <a:t>BOOL</a:t>
            </a:r>
            <a:r>
              <a:rPr>
                <a:solidFill>
                  <a:srgbClr val="1F2937"/>
                </a:solidFill>
                <a:latin typeface="Helvetica Neue"/>
              </a:rPr>
              <a:t> / </a:t>
            </a:r>
            <a:r>
              <a:rPr sz="1300" b="1">
                <a:solidFill>
                  <a:srgbClr val="0E7490"/>
                </a:solidFill>
                <a:latin typeface="Helvetica Neue"/>
              </a:rPr>
              <a:t>UUID</a:t>
            </a:r>
            <a:r>
              <a:rPr>
                <a:solidFill>
                  <a:srgbClr val="1F2937"/>
                </a:solidFill>
                <a:latin typeface="Helvetica Neue"/>
              </a:rPr>
              <a:t> → bools e ids; </a:t>
            </a:r>
            <a:r>
              <a:rPr sz="1300" b="1">
                <a:solidFill>
                  <a:srgbClr val="0E7490"/>
                </a:solidFill>
                <a:latin typeface="Helvetica Neue"/>
              </a:rPr>
              <a:t>ARRAY</a:t>
            </a:r>
            <a:r>
              <a:rPr>
                <a:solidFill>
                  <a:srgbClr val="1F2937"/>
                </a:solidFill>
                <a:latin typeface="Helvetica Neue"/>
              </a:rPr>
              <a:t> solo para filtros/índices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500" b="0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Tú no pides el algoritmo (solo </a:t>
            </a:r>
            <a:r>
              <a:rPr sz="1500" b="1">
                <a:solidFill>
                  <a:srgbClr val="0E7490"/>
                </a:solidFill>
                <a:latin typeface="Helvetica Neue"/>
              </a:rPr>
              <a:t>segmentby</a:t>
            </a:r>
            <a:r>
              <a:rPr>
                <a:solidFill>
                  <a:srgbClr val="1F2937"/>
                </a:solidFill>
                <a:latin typeface="Helvetica Neue"/>
              </a:rPr>
              <a:t>/</a:t>
            </a:r>
            <a:r>
              <a:rPr sz="1500" b="1">
                <a:solidFill>
                  <a:srgbClr val="0E7490"/>
                </a:solidFill>
                <a:latin typeface="Helvetica Neue"/>
              </a:rPr>
              <a:t>orderby</a:t>
            </a:r>
            <a:r>
              <a:rPr>
                <a:solidFill>
                  <a:srgbClr val="1F2937"/>
                </a:solidFill>
                <a:latin typeface="Helvetica Neue"/>
              </a:rPr>
              <a:t>): </a:t>
            </a:r>
            <a:r>
              <a:rPr sz="1500" b="1">
                <a:solidFill>
                  <a:srgbClr val="0E7490"/>
                </a:solidFill>
                <a:latin typeface="Helvetica Neue"/>
              </a:rPr>
              <a:t>timescaledb_information.compression_settings</a:t>
            </a:r>
            <a:r>
              <a:rPr>
                <a:solidFill>
                  <a:srgbClr val="1F2937"/>
                </a:solidFill>
                <a:latin typeface="Helvetica Neue"/>
              </a:rPr>
              <a:t> muestra lo aplicado.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Contrapartida: escribir sobre columna comprimida es más caro → por eso solo se comprime lo </a:t>
            </a:r>
            <a:r>
              <a:rPr b="1">
                <a:solidFill>
                  <a:srgbClr val="B45309"/>
                </a:solidFill>
                <a:latin typeface="Helvetica Neue"/>
              </a:rPr>
              <a:t>viejo</a:t>
            </a:r>
            <a:r>
              <a:rPr>
                <a:solidFill>
                  <a:srgbClr val="1F2937"/>
                </a:solidFill>
                <a:latin typeface="Helvetica Neue"/>
              </a:rPr>
              <a:t>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965960"/>
            <a:ext cx="3566160" cy="246888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2240280"/>
            <a:ext cx="310896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1">
                <a:solidFill>
                  <a:srgbClr val="B45309"/>
                </a:solidFill>
                <a:latin typeface="Helvetica Neue"/>
              </a:defRPr>
            </a:pPr>
            <a:r>
              <a:rPr>
                <a:solidFill>
                  <a:srgbClr val="B45309"/>
                </a:solidFill>
                <a:latin typeface="Helvetica Neue"/>
              </a:rPr>
              <a:t>Resultado medido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3000" b="1">
                <a:solidFill>
                  <a:srgbClr val="15803D"/>
                </a:solidFill>
                <a:latin typeface="Helvetica Neue"/>
              </a:defRPr>
            </a:pPr>
            <a:r>
              <a:rPr>
                <a:solidFill>
                  <a:srgbClr val="15803D"/>
                </a:solidFill>
                <a:latin typeface="Helvetica Neue"/>
              </a:rPr>
              <a:t>56 MB → 17 MB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300" b="0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por chunk · −70 % · ×3,3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280"/>
                </a:solidFill>
                <a:latin typeface="Helvetica Neue"/>
              </a:defRPr>
            </a:pPr>
            <a:r>
              <a:rPr>
                <a:solidFill>
                  <a:srgbClr val="6B7280"/>
                </a:solidFill>
                <a:latin typeface="Helvetica Neue"/>
              </a:rPr>
              <a:t>Doc Timescale: hasta 90-95 % en casos típicos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760720"/>
            <a:ext cx="7315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SQL habitado: </a:t>
            </a:r>
            <a:r>
              <a:rPr sz="1300" b="1">
                <a:solidFill>
                  <a:srgbClr val="0E7490"/>
                </a:solidFill>
                <a:latin typeface="Helvetica Neue"/>
              </a:rPr>
              <a:t>ALTER TABLE vehiculos_grande SET (timescaledb.compress, segmentby='auto_id', orderby='ts DESC');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g_elepha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201168"/>
            <a:ext cx="1371600" cy="14147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2937"/>
                </a:solidFill>
              </a:defRPr>
            </a:pPr>
            <a:r>
              <a:rPr sz="3000" b="1">
                <a:solidFill>
                  <a:srgbClr val="0E7490"/>
                </a:solidFill>
                <a:latin typeface="Helvetica Neue"/>
              </a:rPr>
              <a:t>03_compresion.sql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B7280"/>
                </a:solidFill>
                <a:latin typeface="Helvetica Neue"/>
              </a:defRPr>
            </a:pPr>
            <a:r>
              <a:rPr>
                <a:solidFill>
                  <a:srgbClr val="6B7280"/>
                </a:solidFill>
                <a:latin typeface="Helvetica Neue"/>
              </a:rPr>
              <a:t>vehiculos_grande: 3 chunks de 3 días, 2 comprimidos y 1 de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868680"/>
            <a:ext cx="960120" cy="4114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6510528"/>
            <a:ext cx="11091672" cy="10972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4710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B7280"/>
                </a:solidFill>
                <a:latin typeface="Helvetica Neue"/>
              </a:defRPr>
            </a:pPr>
            <a:r>
              <a:rPr>
                <a:solidFill>
                  <a:srgbClr val="6B7280"/>
                </a:solidFill>
                <a:latin typeface="Helvetica Neue"/>
              </a:rPr>
              <a:t>Javier Aragón  ·  TimescaleDB — de la telemetría a la decisión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547104"/>
            <a:ext cx="15819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B7280"/>
                </a:solidFill>
                <a:latin typeface="Helvetica Neue"/>
              </a:defRPr>
            </a:pPr>
            <a:r>
              <a:rPr>
                <a:solidFill>
                  <a:srgbClr val="6B7280"/>
                </a:solidFill>
                <a:latin typeface="Helvetica Neue"/>
              </a:rPr>
              <a:t>08 / 18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057400"/>
            <a:ext cx="11064240" cy="329184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2107692"/>
            <a:ext cx="42062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Chunk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84064" y="2107692"/>
            <a:ext cx="2435961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Ventana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39481" y="2107692"/>
            <a:ext cx="1218895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Antes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77832" y="2107692"/>
            <a:ext cx="1218895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Después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16184" y="2107692"/>
            <a:ext cx="88696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Comprimido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386584"/>
            <a:ext cx="11064240" cy="329184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2464308"/>
            <a:ext cx="420624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3001 (en otra recreación: 6003)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84064" y="2464308"/>
            <a:ext cx="2435961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2026-09-13 → 09-16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39481" y="2464308"/>
            <a:ext cx="1218895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56 MB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77832" y="2464308"/>
            <a:ext cx="1218895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B45309"/>
                </a:solidFill>
                <a:latin typeface="Helvetica Neue"/>
              </a:defRPr>
            </a:pPr>
            <a:r>
              <a:rPr>
                <a:solidFill>
                  <a:srgbClr val="B45309"/>
                </a:solidFill>
                <a:latin typeface="Helvetica Neue"/>
              </a:rPr>
              <a:t>17 MB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16184" y="2464308"/>
            <a:ext cx="886968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sí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2715768"/>
            <a:ext cx="11064240" cy="329184"/>
          </a:xfrm>
          <a:prstGeom prst="rect">
            <a:avLst/>
          </a:prstGeom>
          <a:solidFill>
            <a:srgbClr val="E6E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2793491"/>
            <a:ext cx="420624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3002 (… 6004)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84064" y="2793491"/>
            <a:ext cx="2435961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2026-09-16 → 09-19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39481" y="2793491"/>
            <a:ext cx="1218895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56 MB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77832" y="2793491"/>
            <a:ext cx="1218895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B45309"/>
                </a:solidFill>
                <a:latin typeface="Helvetica Neue"/>
              </a:defRPr>
            </a:pPr>
            <a:r>
              <a:rPr>
                <a:solidFill>
                  <a:srgbClr val="B45309"/>
                </a:solidFill>
                <a:latin typeface="Helvetica Neue"/>
              </a:rPr>
              <a:t>17 MB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16184" y="2793491"/>
            <a:ext cx="886968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sí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3044951"/>
            <a:ext cx="11064240" cy="329184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" y="3122675"/>
            <a:ext cx="420624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3003 (… 6005) · control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84064" y="3122675"/>
            <a:ext cx="2435961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2026-09-19 → 09-22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39481" y="3122675"/>
            <a:ext cx="1218895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56 MB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77832" y="3122675"/>
            <a:ext cx="1218895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B45309"/>
                </a:solidFill>
                <a:latin typeface="Helvetica Neue"/>
              </a:defRPr>
            </a:pPr>
            <a:r>
              <a:rPr>
                <a:solidFill>
                  <a:srgbClr val="B45309"/>
                </a:solidFill>
                <a:latin typeface="Helvetica Neue"/>
              </a:rPr>
              <a:t>56 MB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16184" y="3122675"/>
            <a:ext cx="886968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no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4069080"/>
            <a:ext cx="7498079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400" b="0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·  Los datos se </a:t>
            </a:r>
            <a:r>
              <a:rPr b="1">
                <a:solidFill>
                  <a:srgbClr val="B45309"/>
                </a:solidFill>
                <a:latin typeface="Helvetica Neue"/>
              </a:rPr>
              <a:t>leen igual pero desde el columnstore</a:t>
            </a:r>
            <a:r>
              <a:rPr>
                <a:solidFill>
                  <a:srgbClr val="1F2937"/>
                </a:solidFill>
                <a:latin typeface="Helvetica Neue"/>
              </a:rPr>
              <a:t>; la tabla fila del chunk queda a ~0 bytes.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400" b="0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·  Tamaños calculados con </a:t>
            </a:r>
            <a:r>
              <a:rPr sz="1400" b="1">
                <a:solidFill>
                  <a:srgbClr val="0E7490"/>
                </a:solidFill>
                <a:latin typeface="Helvetica Neue"/>
              </a:rPr>
              <a:t>pg_total_relation_size(chunk)</a:t>
            </a:r>
            <a:r>
              <a:rPr>
                <a:solidFill>
                  <a:srgbClr val="1F2937"/>
                </a:solidFill>
                <a:latin typeface="Helvetica Neue"/>
              </a:rPr>
              <a:t> — incluye índices y el almacenamiento comprimido.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400" b="0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·  Los nombres de chunk </a:t>
            </a:r>
            <a:r>
              <a:rPr b="1">
                <a:solidFill>
                  <a:srgbClr val="B45309"/>
                </a:solidFill>
                <a:latin typeface="Helvetica Neue"/>
              </a:rPr>
              <a:t>cambian en cada recreación</a:t>
            </a:r>
            <a:r>
              <a:rPr>
                <a:solidFill>
                  <a:srgbClr val="1F2937"/>
                </a:solidFill>
                <a:latin typeface="Helvetica Neue"/>
              </a:rPr>
              <a:t>: </a:t>
            </a:r>
            <a:r>
              <a:rPr sz="1400" b="1">
                <a:solidFill>
                  <a:srgbClr val="0E7490"/>
                </a:solidFill>
                <a:latin typeface="Helvetica Neue"/>
              </a:rPr>
              <a:t>3001</a:t>
            </a:r>
            <a:r>
              <a:rPr>
                <a:solidFill>
                  <a:srgbClr val="1F2937"/>
                </a:solidFill>
                <a:latin typeface="Helvetica Neue"/>
              </a:rPr>
              <a:t> aquí, </a:t>
            </a:r>
            <a:r>
              <a:rPr sz="1400" b="1">
                <a:solidFill>
                  <a:srgbClr val="0E7490"/>
                </a:solidFill>
                <a:latin typeface="Helvetica Neue"/>
              </a:rPr>
              <a:t>6003</a:t>
            </a:r>
            <a:r>
              <a:rPr>
                <a:solidFill>
                  <a:srgbClr val="1F2937"/>
                </a:solidFill>
                <a:latin typeface="Helvetica Neue"/>
              </a:rPr>
              <a:t> en otra pasada. Se resuelven por rango, no por nombre.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1400" b="0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·  El tercer chunk queda </a:t>
            </a:r>
            <a:r>
              <a:rPr b="1">
                <a:solidFill>
                  <a:srgbClr val="B45309"/>
                </a:solidFill>
                <a:latin typeface="Helvetica Neue"/>
              </a:rPr>
              <a:t>sin comprimir a propósito</a:t>
            </a:r>
            <a:r>
              <a:rPr>
                <a:solidFill>
                  <a:srgbClr val="1F2937"/>
                </a:solidFill>
                <a:latin typeface="Helvetica Neue"/>
              </a:rPr>
              <a:t> para comparar en directo.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5532120"/>
            <a:ext cx="2743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B45309"/>
                </a:solidFill>
                <a:latin typeface="Helvetica Neue"/>
              </a:defRPr>
            </a:pPr>
            <a:r>
              <a:rPr>
                <a:solidFill>
                  <a:srgbClr val="B45309"/>
                </a:solidFill>
                <a:latin typeface="Helvetica Neue"/>
              </a:rPr>
              <a:t>1.555.200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6217920"/>
            <a:ext cx="27432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280"/>
                </a:solidFill>
                <a:latin typeface="Helvetica Neue"/>
              </a:defRPr>
            </a:pPr>
            <a:r>
              <a:rPr>
                <a:solidFill>
                  <a:srgbClr val="6B7280"/>
                </a:solidFill>
                <a:latin typeface="Helvetica Neue"/>
              </a:rPr>
              <a:t>filas siguen ahí tras comprimir (count intacto)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g_elepha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201168"/>
            <a:ext cx="1371600" cy="14147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2937"/>
                </a:solidFill>
              </a:defRPr>
            </a:pPr>
            <a:r>
              <a:rPr sz="3000" b="1">
                <a:solidFill>
                  <a:srgbClr val="0E7490"/>
                </a:solidFill>
                <a:latin typeface="Helvetica Neue"/>
              </a:rPr>
              <a:t>04_insert_chunk_comprimido.sql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B7280"/>
                </a:solidFill>
                <a:latin typeface="Helvetica Neue"/>
              </a:defRPr>
            </a:pPr>
            <a:r>
              <a:rPr>
                <a:solidFill>
                  <a:srgbClr val="6B7280"/>
                </a:solidFill>
                <a:latin typeface="Helvetica Neue"/>
              </a:rPr>
              <a:t>¿Insertar en un chunk ya comprimido? Sí, y sin descomprimir todo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868680"/>
            <a:ext cx="960120" cy="4114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6510528"/>
            <a:ext cx="11091672" cy="10972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4710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B7280"/>
                </a:solidFill>
                <a:latin typeface="Helvetica Neue"/>
              </a:defRPr>
            </a:pPr>
            <a:r>
              <a:rPr>
                <a:solidFill>
                  <a:srgbClr val="6B7280"/>
                </a:solidFill>
                <a:latin typeface="Helvetica Neue"/>
              </a:rPr>
              <a:t>Javier Aragón  ·  TimescaleDB — de la telemetría a la decisión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547104"/>
            <a:ext cx="15819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B7280"/>
                </a:solidFill>
                <a:latin typeface="Helvetica Neue"/>
              </a:defRPr>
            </a:pPr>
            <a:r>
              <a:rPr>
                <a:solidFill>
                  <a:srgbClr val="6B7280"/>
                </a:solidFill>
                <a:latin typeface="Helvetica Neue"/>
              </a:rPr>
              <a:t>09 / 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965960"/>
            <a:ext cx="7498079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500" b="1">
                <a:solidFill>
                  <a:srgbClr val="1F2937"/>
                </a:solidFill>
                <a:latin typeface="Helvetica Neue"/>
              </a:defRPr>
            </a:pPr>
            <a:r>
              <a:rPr b="1">
                <a:solidFill>
                  <a:srgbClr val="B45309"/>
                </a:solidFill>
                <a:latin typeface="Helvetica Neue"/>
              </a:rPr>
              <a:t>Mito a corregir</a:t>
            </a:r>
            <a:r>
              <a:rPr>
                <a:solidFill>
                  <a:srgbClr val="1F2937"/>
                </a:solidFill>
                <a:latin typeface="Helvetica Neue"/>
              </a:rPr>
              <a:t>: "Timescale descomprime y recompresa en cada INSERT" → </a:t>
            </a:r>
            <a:r>
              <a:rPr b="1">
                <a:solidFill>
                  <a:srgbClr val="B45309"/>
                </a:solidFill>
                <a:latin typeface="Helvetica Neue"/>
              </a:rPr>
              <a:t>falso</a:t>
            </a:r>
            <a:r>
              <a:rPr>
                <a:solidFill>
                  <a:srgbClr val="1F2937"/>
                </a:solidFill>
                <a:latin typeface="Helvetica Neue"/>
              </a:rPr>
              <a:t>.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500" b="0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Las filas nuevas van a un </a:t>
            </a:r>
            <a:r>
              <a:rPr b="1">
                <a:solidFill>
                  <a:srgbClr val="B45309"/>
                </a:solidFill>
                <a:latin typeface="Helvetica Neue"/>
              </a:rPr>
              <a:t>overflow rowstore</a:t>
            </a:r>
            <a:r>
              <a:rPr>
                <a:solidFill>
                  <a:srgbClr val="1F2937"/>
                </a:solidFill>
                <a:latin typeface="Helvetica Neue"/>
              </a:rPr>
              <a:t> del chunk: </a:t>
            </a:r>
            <a:r>
              <a:rPr sz="1500" b="1">
                <a:solidFill>
                  <a:srgbClr val="0E7490"/>
                </a:solidFill>
                <a:latin typeface="Helvetica Neue"/>
              </a:rPr>
              <a:t>is_compressed</a:t>
            </a:r>
            <a:r>
              <a:rPr>
                <a:solidFill>
                  <a:srgbClr val="1F2937"/>
                </a:solidFill>
                <a:latin typeface="Helvetica Neue"/>
              </a:rPr>
              <a:t> sigue a </a:t>
            </a:r>
            <a:r>
              <a:rPr sz="1500" b="1">
                <a:solidFill>
                  <a:srgbClr val="0E7490"/>
                </a:solidFill>
                <a:latin typeface="Helvetica Neue"/>
              </a:rPr>
              <a:t>t</a:t>
            </a:r>
            <a:r>
              <a:rPr>
                <a:solidFill>
                  <a:srgbClr val="1F2937"/>
                </a:solidFill>
                <a:latin typeface="Helvetica Neue"/>
              </a:rPr>
              <a:t> pero el chunk </a:t>
            </a:r>
            <a:r>
              <a:rPr b="1">
                <a:solidFill>
                  <a:srgbClr val="B45309"/>
                </a:solidFill>
                <a:latin typeface="Helvetica Neue"/>
              </a:rPr>
              <a:t>crece</a:t>
            </a:r>
            <a:r>
              <a:rPr>
                <a:solidFill>
                  <a:srgbClr val="1F2937"/>
                </a:solidFill>
                <a:latin typeface="Helvetica Neue"/>
              </a:rPr>
              <a:t> (8192 B → 24 kB con 10 filas).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1500" b="0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El merge con el columnstore llega al </a:t>
            </a:r>
            <a:r>
              <a:rPr b="1">
                <a:solidFill>
                  <a:srgbClr val="B45309"/>
                </a:solidFill>
                <a:latin typeface="Helvetica Neue"/>
              </a:rPr>
              <a:t>recomprimir</a:t>
            </a:r>
            <a:r>
              <a:rPr>
                <a:solidFill>
                  <a:srgbClr val="1F2937"/>
                </a:solidFill>
                <a:latin typeface="Helvetica Neue"/>
              </a:rPr>
              <a:t>: </a:t>
            </a:r>
            <a:r>
              <a:rPr sz="1500" b="1">
                <a:solidFill>
                  <a:srgbClr val="0E7490"/>
                </a:solidFill>
                <a:latin typeface="Helvetica Neue"/>
              </a:rPr>
              <a:t>compress_chunk()</a:t>
            </a:r>
            <a:r>
              <a:rPr>
                <a:solidFill>
                  <a:srgbClr val="1F2937"/>
                </a:solidFill>
                <a:latin typeface="Helvetica Neue"/>
              </a:rPr>
              <a:t> o la política de compresión en segundo plano.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Medidas (2026-09):</a:t>
            </a:r>
          </a:p>
          <a:p>
            <a:pPr algn="l" lvl="1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lote de 5 filas → 5,6 ms  ·  5 individuales → ~0,5 ms c/u</a:t>
            </a:r>
          </a:p>
          <a:p>
            <a:pPr algn="l" lvl="1">
              <a:spcBef>
                <a:spcPts val="0"/>
              </a:spcBef>
              <a:spcAft>
                <a:spcPts val="800"/>
              </a:spcAft>
              <a:defRPr sz="1400" b="0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1M en un INSERT → 3,5 s (~285 000 filas/s)  ·  pgbench fila-a-fila → 4.697 tps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B45309"/>
                </a:solidFill>
                <a:latin typeface="Helvetica Neue"/>
              </a:defRPr>
            </a:pPr>
            <a:r>
              <a:rPr>
                <a:solidFill>
                  <a:srgbClr val="B45309"/>
                </a:solidFill>
                <a:latin typeface="Helvetica Neue"/>
              </a:rPr>
              <a:t>Recomendación: </a:t>
            </a:r>
            <a:r>
              <a:rPr b="1">
                <a:solidFill>
                  <a:srgbClr val="B45309"/>
                </a:solidFill>
                <a:latin typeface="Helvetica Neue"/>
              </a:rPr>
              <a:t>lotes de ≥1000 filas o `COPY`</a:t>
            </a:r>
            <a:r>
              <a:rPr>
                <a:solidFill>
                  <a:srgbClr val="B45309"/>
                </a:solidFill>
                <a:latin typeface="Helvetica Neue"/>
              </a:rPr>
              <a:t>; deja que la política reabsorba el overflow.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965960"/>
            <a:ext cx="3429000" cy="2377440"/>
          </a:xfrm>
          <a:prstGeom prst="roundRect">
            <a:avLst>
              <a:gd name="adj" fmla="val 6000"/>
            </a:avLst>
          </a:prstGeom>
          <a:solidFill>
            <a:srgbClr val="0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58200" y="2194560"/>
            <a:ext cx="301752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100" b="0">
                <a:solidFill>
                  <a:srgbClr val="6B7280"/>
                </a:solidFill>
                <a:latin typeface="Helvetica Neue"/>
              </a:defRPr>
            </a:pPr>
            <a:r>
              <a:rPr>
                <a:solidFill>
                  <a:srgbClr val="6B7280"/>
                </a:solidFill>
                <a:latin typeface="Helvetica Neue"/>
              </a:rPr>
              <a:t>SELECT * FROM chunk…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300" b="1">
                <a:solidFill>
                  <a:srgbClr val="15803D"/>
                </a:solidFill>
                <a:latin typeface="Helvetica Neue"/>
              </a:defRPr>
            </a:pPr>
            <a:r>
              <a:rPr>
                <a:solidFill>
                  <a:srgbClr val="15803D"/>
                </a:solidFill>
                <a:latin typeface="Helvetica Neue"/>
              </a:rPr>
              <a:t>overflow + columnstore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280"/>
                </a:solidFill>
                <a:latin typeface="Helvetica Neue"/>
              </a:defRPr>
            </a:pPr>
            <a:r>
              <a:rPr>
                <a:solidFill>
                  <a:srgbClr val="6B7280"/>
                </a:solidFill>
                <a:latin typeface="Helvetica Neue"/>
              </a:rPr>
              <a:t>= lo que lee toda consulta de ese chunk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76072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 i="1">
                <a:solidFill>
                  <a:srgbClr val="6B7280"/>
                </a:solidFill>
                <a:latin typeface="Helvetica Neue"/>
              </a:defRPr>
            </a:pPr>
            <a:r>
              <a:rPr>
                <a:solidFill>
                  <a:srgbClr val="6B7280"/>
                </a:solidFill>
                <a:latin typeface="Helvetica Neue"/>
              </a:rPr>
              <a:t>Backfill puntual en chunk viejo: fuerza luego </a:t>
            </a:r>
            <a:r>
              <a:rPr sz="1300" b="1">
                <a:solidFill>
                  <a:srgbClr val="0E7490"/>
                </a:solidFill>
                <a:latin typeface="Helvetica Neue"/>
              </a:rPr>
              <a:t>compress_chunk</a:t>
            </a:r>
            <a:r>
              <a:rPr>
                <a:solidFill>
                  <a:srgbClr val="6B7280"/>
                </a:solidFill>
                <a:latin typeface="Helvetica Neue"/>
              </a:rPr>
              <a:t> sobre ese chunk y duerme tranquilo con la política.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g_elepha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201168"/>
            <a:ext cx="1371600" cy="14147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2937"/>
                </a:solidFill>
              </a:defRPr>
            </a:pPr>
            <a:r>
              <a:rPr sz="3000" b="1">
                <a:solidFill>
                  <a:srgbClr val="0E7490"/>
                </a:solidFill>
                <a:latin typeface="Helvetica Neue"/>
              </a:rPr>
              <a:t>05_compresion_politica.sql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B7280"/>
                </a:solidFill>
                <a:latin typeface="Helvetica Neue"/>
              </a:defRPr>
            </a:pPr>
            <a:r>
              <a:rPr>
                <a:solidFill>
                  <a:srgbClr val="6B7280"/>
                </a:solidFill>
                <a:latin typeface="Helvetica Neue"/>
              </a:rPr>
              <a:t>La política de compresión: se ocupa de todo sola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868680"/>
            <a:ext cx="960120" cy="4114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6510528"/>
            <a:ext cx="11091672" cy="10972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4710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B7280"/>
                </a:solidFill>
                <a:latin typeface="Helvetica Neue"/>
              </a:defRPr>
            </a:pPr>
            <a:r>
              <a:rPr>
                <a:solidFill>
                  <a:srgbClr val="6B7280"/>
                </a:solidFill>
                <a:latin typeface="Helvetica Neue"/>
              </a:rPr>
              <a:t>Javier Aragón  ·  TimescaleDB — de la telemetría a la decisión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547104"/>
            <a:ext cx="15819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B7280"/>
                </a:solidFill>
                <a:latin typeface="Helvetica Neue"/>
              </a:defRPr>
            </a:pPr>
            <a:r>
              <a:rPr>
                <a:solidFill>
                  <a:srgbClr val="6B7280"/>
                </a:solidFill>
                <a:latin typeface="Helvetica Neue"/>
              </a:rPr>
              <a:t>10 / 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011680"/>
            <a:ext cx="7680960" cy="1783080"/>
          </a:xfrm>
          <a:prstGeom prst="roundRect">
            <a:avLst>
              <a:gd name="adj" fmla="val 6000"/>
            </a:avLst>
          </a:prstGeom>
          <a:solidFill>
            <a:srgbClr val="0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148840"/>
            <a:ext cx="7223760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7DD3FC"/>
                </a:solidFill>
                <a:latin typeface="Menlo"/>
              </a:defRPr>
            </a:pPr>
            <a:r>
              <a:rPr>
                <a:solidFill>
                  <a:srgbClr val="7DD3FC"/>
                </a:solidFill>
                <a:latin typeface="Helvetica Neue"/>
              </a:rPr>
              <a:t>SELECT add_compression_policy('vehiculos_grande',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7DD3FC"/>
                </a:solidFill>
                <a:latin typeface="Menlo"/>
              </a:defRPr>
            </a:pPr>
            <a:r>
              <a:rPr>
                <a:solidFill>
                  <a:srgbClr val="7DD3FC"/>
                </a:solidFill>
                <a:latin typeface="Helvetica Neue"/>
              </a:rPr>
              <a:t>       compress_after    =&gt; INTERVAL '7 days',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7DD3FC"/>
                </a:solidFill>
                <a:latin typeface="Menlo"/>
              </a:defRPr>
            </a:pPr>
            <a:r>
              <a:rPr>
                <a:solidFill>
                  <a:srgbClr val="7DD3FC"/>
                </a:solidFill>
                <a:latin typeface="Helvetica Neue"/>
              </a:rPr>
              <a:t>       schedule_interval =&gt; INTERVAL '24 hours');  -- el id lo asigna Timescale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7DD3FC"/>
                </a:solidFill>
                <a:latin typeface="Menlo"/>
              </a:defRPr>
            </a:pP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7DD3FC"/>
                </a:solidFill>
                <a:latin typeface="Menlo"/>
              </a:defRPr>
            </a:pPr>
            <a:r>
              <a:rPr>
                <a:solidFill>
                  <a:srgbClr val="7DD3FC"/>
                </a:solidFill>
                <a:latin typeface="Helvetica Neue"/>
              </a:rPr>
              <a:t>CALL run_job(&lt;job_id&gt;);       -- forzarlo a mano (procedimiento)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7DD3FC"/>
                </a:solidFill>
                <a:latin typeface="Menlo"/>
              </a:defRPr>
            </a:pPr>
            <a:r>
              <a:rPr>
                <a:solidFill>
                  <a:srgbClr val="7DD3FC"/>
                </a:solidFill>
                <a:latin typeface="Helvetica Neue"/>
              </a:rPr>
              <a:t>SELECT alter_job(&lt;job_id&gt;, scheduled =&gt; false);     -- pausar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7DD3FC"/>
                </a:solidFill>
                <a:latin typeface="Menlo"/>
              </a:defRPr>
            </a:pPr>
            <a:r>
              <a:rPr>
                <a:solidFill>
                  <a:srgbClr val="7DD3FC"/>
                </a:solidFill>
                <a:latin typeface="Helvetica Neue"/>
              </a:rPr>
              <a:t>SELECT remove_compression_policy('vehiculos_grande'); -- borrar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794760"/>
            <a:ext cx="7498079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500" b="0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·  El job corre cada </a:t>
            </a:r>
            <a:r>
              <a:rPr b="1">
                <a:solidFill>
                  <a:srgbClr val="B45309"/>
                </a:solidFill>
                <a:latin typeface="Helvetica Neue"/>
              </a:rPr>
              <a:t>24 h</a:t>
            </a:r>
            <a:r>
              <a:rPr>
                <a:solidFill>
                  <a:srgbClr val="1F2937"/>
                </a:solidFill>
                <a:latin typeface="Helvetica Neue"/>
              </a:rPr>
              <a:t> y comprime todo chunk cuyo rango terminó hace </a:t>
            </a:r>
            <a:r>
              <a:rPr b="1">
                <a:solidFill>
                  <a:srgbClr val="B45309"/>
                </a:solidFill>
                <a:latin typeface="Helvetica Neue"/>
              </a:rPr>
              <a:t>&gt;7 días</a:t>
            </a:r>
            <a:r>
              <a:rPr>
                <a:solidFill>
                  <a:srgbClr val="1F2937"/>
                </a:solidFill>
                <a:latin typeface="Helvetica Neue"/>
              </a:rPr>
              <a:t>.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500" b="0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·  </a:t>
            </a:r>
            <a:r>
              <a:rPr b="1">
                <a:solidFill>
                  <a:srgbClr val="B45309"/>
                </a:solidFill>
                <a:latin typeface="Helvetica Neue"/>
              </a:rPr>
              <a:t>Reabsorbe el overflow</a:t>
            </a:r>
            <a:r>
              <a:rPr>
                <a:solidFill>
                  <a:srgbClr val="1F2937"/>
                </a:solidFill>
                <a:latin typeface="Helvetica Neue"/>
              </a:rPr>
              <a:t> del rowstore al columnstore sin intervención manual.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500" b="0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·  </a:t>
            </a:r>
            <a:r>
              <a:rPr b="1">
                <a:solidFill>
                  <a:srgbClr val="B45309"/>
                </a:solidFill>
                <a:latin typeface="Helvetica Neue"/>
              </a:rPr>
              <a:t>Respeta la ventana reciente</a:t>
            </a:r>
            <a:r>
              <a:rPr>
                <a:solidFill>
                  <a:srgbClr val="1F2937"/>
                </a:solidFill>
                <a:latin typeface="Helvetica Neue"/>
              </a:rPr>
              <a:t>: con </a:t>
            </a:r>
            <a:r>
              <a:rPr sz="1500" b="1">
                <a:solidFill>
                  <a:srgbClr val="0E7490"/>
                </a:solidFill>
                <a:latin typeface="Helvetica Neue"/>
              </a:rPr>
              <a:t>compress_after</a:t>
            </a:r>
            <a:r>
              <a:rPr>
                <a:solidFill>
                  <a:srgbClr val="1F2937"/>
                </a:solidFill>
                <a:latin typeface="Helvetica Neue"/>
              </a:rPr>
              <a:t> amplio, el chunk de control sigue sin comprimir el día de la demo.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·  </a:t>
            </a:r>
            <a:r>
              <a:rPr sz="1500" b="1">
                <a:solidFill>
                  <a:srgbClr val="0E7490"/>
                </a:solidFill>
                <a:latin typeface="Helvetica Neue"/>
              </a:rPr>
              <a:t>job_stats</a:t>
            </a:r>
            <a:r>
              <a:rPr>
                <a:solidFill>
                  <a:srgbClr val="1F2937"/>
                </a:solidFill>
                <a:latin typeface="Helvetica Neue"/>
              </a:rPr>
              <a:t> / </a:t>
            </a:r>
            <a:r>
              <a:rPr sz="1500" b="1">
                <a:solidFill>
                  <a:srgbClr val="0E7490"/>
                </a:solidFill>
                <a:latin typeface="Helvetica Neue"/>
              </a:rPr>
              <a:t>job_history</a:t>
            </a:r>
            <a:r>
              <a:rPr>
                <a:solidFill>
                  <a:srgbClr val="1F2937"/>
                </a:solidFill>
                <a:latin typeface="Helvetica Neue"/>
              </a:rPr>
              <a:t> muestran la ejecución en vivo: éxito, tiempos, siguiente arranque.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2011680"/>
            <a:ext cx="3429000" cy="214884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58200" y="2286000"/>
            <a:ext cx="301752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300" b="1">
                <a:solidFill>
                  <a:srgbClr val="B45309"/>
                </a:solidFill>
                <a:latin typeface="Helvetica Neue"/>
              </a:defRPr>
            </a:pPr>
            <a:r>
              <a:rPr>
                <a:solidFill>
                  <a:srgbClr val="B45309"/>
                </a:solidFill>
                <a:latin typeface="Helvetica Neue"/>
              </a:rPr>
              <a:t>Estado probado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15803D"/>
                </a:solidFill>
                <a:latin typeface="Helvetica Neue"/>
              </a:defRPr>
            </a:pPr>
            <a:r>
              <a:rPr>
                <a:solidFill>
                  <a:srgbClr val="15803D"/>
                </a:solidFill>
                <a:latin typeface="Helvetica Neue"/>
              </a:rPr>
              <a:t>Éxito (Success)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6B7280"/>
                </a:solidFill>
                <a:latin typeface="Helvetica Neue"/>
              </a:defRPr>
            </a:pPr>
            <a:r>
              <a:rPr>
                <a:solidFill>
                  <a:srgbClr val="6B7280"/>
                </a:solidFill>
                <a:latin typeface="Helvetica Neue"/>
              </a:rPr>
              <a:t>arrancó al crearse y vuelve cada 24 h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 i="1">
                <a:solidFill>
                  <a:srgbClr val="6B7280"/>
                </a:solidFill>
                <a:latin typeface="Helvetica Neue"/>
              </a:defRPr>
            </a:pPr>
            <a:r>
              <a:rPr>
                <a:solidFill>
                  <a:srgbClr val="6B7280"/>
                </a:solidFill>
                <a:latin typeface="Helvetica Neue"/>
              </a:rPr>
              <a:t>Speech: "si no te convence, lo quitas en una línea"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g_elepha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201168"/>
            <a:ext cx="1371600" cy="14147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2937"/>
                </a:solidFill>
              </a:defRPr>
            </a:pPr>
            <a:r>
              <a:rPr sz="3000" b="1">
                <a:solidFill>
                  <a:srgbClr val="0E7490"/>
                </a:solidFill>
                <a:latin typeface="Helvetica Neue"/>
              </a:rPr>
              <a:t>07_explain_queries.sql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B7280"/>
                </a:solidFill>
                <a:latin typeface="Helvetica Neue"/>
              </a:defRPr>
            </a:pPr>
            <a:r>
              <a:rPr>
                <a:solidFill>
                  <a:srgbClr val="6B7280"/>
                </a:solidFill>
                <a:latin typeface="Helvetica Neue"/>
              </a:rPr>
              <a:t>Pruning: el filtro temporal entra directo en el chunk que toca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868680"/>
            <a:ext cx="960120" cy="4114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6510528"/>
            <a:ext cx="11091672" cy="10972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4710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B7280"/>
                </a:solidFill>
                <a:latin typeface="Helvetica Neue"/>
              </a:defRPr>
            </a:pPr>
            <a:r>
              <a:rPr>
                <a:solidFill>
                  <a:srgbClr val="6B7280"/>
                </a:solidFill>
                <a:latin typeface="Helvetica Neue"/>
              </a:rPr>
              <a:t>Javier Aragón  ·  TimescaleDB — de la telemetría a la decisión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547104"/>
            <a:ext cx="15819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B7280"/>
                </a:solidFill>
                <a:latin typeface="Helvetica Neue"/>
              </a:defRPr>
            </a:pPr>
            <a:r>
              <a:rPr>
                <a:solidFill>
                  <a:srgbClr val="6B7280"/>
                </a:solidFill>
                <a:latin typeface="Helvetica Neue"/>
              </a:rPr>
              <a:t>11 / 18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057400"/>
            <a:ext cx="11064240" cy="329184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2107692"/>
            <a:ext cx="42062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Consulta (mismo filtro 1 día)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84064" y="2107692"/>
            <a:ext cx="3542385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Plan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45905" y="2107692"/>
            <a:ext cx="2657246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Coste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386584"/>
            <a:ext cx="11064240" cy="329184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2464308"/>
            <a:ext cx="420624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vehiculos_ts + ts (hypertable 1d)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84064" y="2464308"/>
            <a:ext cx="3542385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B45309"/>
                </a:solidFill>
                <a:latin typeface="Helvetica Neue"/>
              </a:defRPr>
            </a:pPr>
            <a:r>
              <a:rPr>
                <a:solidFill>
                  <a:srgbClr val="B45309"/>
                </a:solidFill>
                <a:latin typeface="Helvetica Neue"/>
              </a:rPr>
              <a:t>Seq Scan → 1 solo chunk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45905" y="2464308"/>
            <a:ext cx="2657246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0,09 ms · 3 buffers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715768"/>
            <a:ext cx="11064240" cy="329184"/>
          </a:xfrm>
          <a:prstGeom prst="rect">
            <a:avLst/>
          </a:prstGeom>
          <a:solidFill>
            <a:srgbClr val="E6E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2793491"/>
            <a:ext cx="420624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vehiculos_ts + ts 30 días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84064" y="2793491"/>
            <a:ext cx="3542385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B45309"/>
                </a:solidFill>
                <a:latin typeface="Helvetica Neue"/>
              </a:defRPr>
            </a:pPr>
            <a:r>
              <a:rPr>
                <a:solidFill>
                  <a:srgbClr val="B45309"/>
                </a:solidFill>
                <a:latin typeface="Helvetica Neue"/>
              </a:rPr>
              <a:t>Append con ~30 partner aggregates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45905" y="2793491"/>
            <a:ext cx="2657246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1,5 ms · 90 buffers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044951"/>
            <a:ext cx="11064240" cy="329184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3122675"/>
            <a:ext cx="420624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vehiculos_plana (sin Timescale)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84064" y="3122675"/>
            <a:ext cx="3542385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B45309"/>
                </a:solidFill>
                <a:latin typeface="Helvetica Neue"/>
              </a:defRPr>
            </a:pPr>
            <a:r>
              <a:rPr>
                <a:solidFill>
                  <a:srgbClr val="B45309"/>
                </a:solidFill>
                <a:latin typeface="Helvetica Neue"/>
              </a:rPr>
              <a:t>Parallel Seq Scan toda la tabla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45905" y="3122675"/>
            <a:ext cx="2657246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20,5 ms · 4.440 buffers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374135"/>
            <a:ext cx="11064240" cy="329184"/>
          </a:xfrm>
          <a:prstGeom prst="rect">
            <a:avLst/>
          </a:prstGeom>
          <a:solidFill>
            <a:srgbClr val="E6E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" y="3451859"/>
            <a:ext cx="420624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vehiculos_grande (comprimida)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84064" y="3451859"/>
            <a:ext cx="3542385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B45309"/>
                </a:solidFill>
                <a:latin typeface="Helvetica Neue"/>
              </a:defRPr>
            </a:pPr>
            <a:r>
              <a:rPr>
                <a:solidFill>
                  <a:srgbClr val="B45309"/>
                </a:solidFill>
                <a:latin typeface="Helvetica Neue"/>
              </a:rPr>
              <a:t>ColumnarIndexScan en columnstore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45905" y="3451859"/>
            <a:ext cx="2657246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filtra y agrega en compresión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4069080"/>
            <a:ext cx="7498079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F2937"/>
                </a:solidFill>
                <a:latin typeface="Helvetica Neue"/>
              </a:defRPr>
            </a:pPr>
            <a:r>
              <a:rPr b="1">
                <a:solidFill>
                  <a:srgbClr val="B45309"/>
                </a:solidFill>
                <a:latin typeface="Helvetica Neue"/>
              </a:rPr>
              <a:t>“El peor caso de la tabla plana es el caso normal de Timescale”</a:t>
            </a:r>
            <a:r>
              <a:rPr>
                <a:solidFill>
                  <a:srgbClr val="1F2937"/>
                </a:solidFill>
                <a:latin typeface="Helvetica Neue"/>
              </a:rPr>
              <a:t>: la misma consulta mueve 4.440 buffers en plana y 3 en la hypertable.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4754880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0E7490"/>
                </a:solidFill>
                <a:latin typeface="Menlo"/>
              </a:defRPr>
            </a:pPr>
            <a:r>
              <a:rPr>
                <a:solidFill>
                  <a:srgbClr val="0E7490"/>
                </a:solidFill>
                <a:latin typeface="Helvetica Neue"/>
              </a:rPr>
              <a:t>EXPLAIN (COSTS OFF) SELECT … FROM vehiculos_ts WHERE ts &gt;= '2026-05-15' AND ts &lt; '2026-05-16';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562356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 i="1">
                <a:solidFill>
                  <a:srgbClr val="6B7280"/>
                </a:solidFill>
                <a:latin typeface="Helvetica Neue"/>
              </a:defRPr>
            </a:pPr>
            <a:r>
              <a:rPr>
                <a:solidFill>
                  <a:srgbClr val="6B7280"/>
                </a:solidFill>
                <a:latin typeface="Helvetica Neue"/>
              </a:rPr>
              <a:t>Nota rigurosa: tamaños y tiempos medidos tal cual en el laboratorio. No afirmamos “228× más lento” sin un benchmark controlado.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g_elepha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201168"/>
            <a:ext cx="1371600" cy="14147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2937"/>
                </a:solidFill>
              </a:defRPr>
            </a:pPr>
            <a:r>
              <a:rPr sz="3000" b="1">
                <a:solidFill>
                  <a:srgbClr val="0E7490"/>
                </a:solidFill>
                <a:latin typeface="Helvetica Neue"/>
              </a:rPr>
              <a:t>09_retencion_autopurga.sql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B7280"/>
                </a:solidFill>
                <a:latin typeface="Helvetica Neue"/>
              </a:defRPr>
            </a:pPr>
            <a:r>
              <a:rPr>
                <a:solidFill>
                  <a:srgbClr val="6B7280"/>
                </a:solidFill>
                <a:latin typeface="Helvetica Neue"/>
              </a:rPr>
              <a:t>Retención / autopurga: que lo viejo desaparezca solo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868680"/>
            <a:ext cx="960120" cy="4114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6510528"/>
            <a:ext cx="11091672" cy="10972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4710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B7280"/>
                </a:solidFill>
                <a:latin typeface="Helvetica Neue"/>
              </a:defRPr>
            </a:pPr>
            <a:r>
              <a:rPr>
                <a:solidFill>
                  <a:srgbClr val="6B7280"/>
                </a:solidFill>
                <a:latin typeface="Helvetica Neue"/>
              </a:rPr>
              <a:t>Javier Aragón  ·  TimescaleDB — de la telemetría a la decisión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547104"/>
            <a:ext cx="15819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B7280"/>
                </a:solidFill>
                <a:latin typeface="Helvetica Neue"/>
              </a:defRPr>
            </a:pPr>
            <a:r>
              <a:rPr>
                <a:solidFill>
                  <a:srgbClr val="6B7280"/>
                </a:solidFill>
                <a:latin typeface="Helvetica Neue"/>
              </a:rPr>
              <a:t>12 / 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965960"/>
            <a:ext cx="7680960" cy="1463040"/>
          </a:xfrm>
          <a:prstGeom prst="roundRect">
            <a:avLst>
              <a:gd name="adj" fmla="val 6000"/>
            </a:avLst>
          </a:prstGeom>
          <a:solidFill>
            <a:srgbClr val="0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103120"/>
            <a:ext cx="72237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7DD3FC"/>
                </a:solidFill>
                <a:latin typeface="Menlo"/>
              </a:defRPr>
            </a:pPr>
            <a:r>
              <a:rPr>
                <a:solidFill>
                  <a:srgbClr val="7DD3FC"/>
                </a:solidFill>
                <a:latin typeface="Helvetica Neue"/>
              </a:rPr>
              <a:t>-- Manual, una vez: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7DD3FC"/>
                </a:solidFill>
                <a:latin typeface="Menlo"/>
              </a:defRPr>
            </a:pPr>
            <a:r>
              <a:rPr>
                <a:solidFill>
                  <a:srgbClr val="7DD3FC"/>
                </a:solidFill>
                <a:latin typeface="Helvetica Neue"/>
              </a:rPr>
              <a:t>SELECT drop_chunks('vehiculos_grande', older_than =&gt; now() - INTERVAL '5 days');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7DD3FC"/>
                </a:solidFill>
                <a:latin typeface="Menlo"/>
              </a:defRPr>
            </a:pPr>
          </a:p>
          <a:p>
            <a:pPr algn="l"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7DD3FC"/>
                </a:solidFill>
                <a:latin typeface="Menlo"/>
              </a:defRPr>
            </a:pPr>
            <a:r>
              <a:rPr>
                <a:solidFill>
                  <a:srgbClr val="7DD3FC"/>
                </a:solidFill>
                <a:latin typeface="Helvetica Neue"/>
              </a:rPr>
              <a:t>-- Automático: política de retención (se repite cada 24 h)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7DD3FC"/>
                </a:solidFill>
                <a:latin typeface="Menlo"/>
              </a:defRPr>
            </a:pPr>
            <a:r>
              <a:rPr>
                <a:solidFill>
                  <a:srgbClr val="7DD3FC"/>
                </a:solidFill>
                <a:latin typeface="Helvetica Neue"/>
              </a:rPr>
              <a:t>SELECT add_retention_policy('vehiculos_grande', drop_after =&gt; INTERVAL '5 days');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7DD3FC"/>
                </a:solidFill>
                <a:latin typeface="Menlo"/>
              </a:defRPr>
            </a:pPr>
            <a:r>
              <a:rPr>
                <a:solidFill>
                  <a:srgbClr val="7DD3FC"/>
                </a:solidFill>
                <a:latin typeface="Helvetica Neue"/>
              </a:rPr>
              <a:t>CALL run_job(&lt;job_id&gt;);   SELECT remove_retention_policy('vehiculos_grande');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794760"/>
            <a:ext cx="7498079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500" b="0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·  Borra </a:t>
            </a:r>
            <a:r>
              <a:rPr b="1">
                <a:solidFill>
                  <a:srgbClr val="B45309"/>
                </a:solidFill>
                <a:latin typeface="Helvetica Neue"/>
              </a:rPr>
              <a:t>chunks completos</a:t>
            </a:r>
            <a:r>
              <a:rPr>
                <a:solidFill>
                  <a:srgbClr val="1F2937"/>
                </a:solidFill>
                <a:latin typeface="Helvetica Neue"/>
              </a:rPr>
              <a:t>, no filas: elimina el chunk cuando su </a:t>
            </a:r>
            <a:r>
              <a:rPr sz="1500" b="1">
                <a:solidFill>
                  <a:srgbClr val="0E7490"/>
                </a:solidFill>
                <a:latin typeface="Helvetica Neue"/>
              </a:rPr>
              <a:t>range_end</a:t>
            </a:r>
            <a:r>
              <a:rPr>
                <a:solidFill>
                  <a:srgbClr val="1F2937"/>
                </a:solidFill>
                <a:latin typeface="Helvetica Neue"/>
              </a:rPr>
              <a:t> queda antes de </a:t>
            </a:r>
            <a:r>
              <a:rPr sz="1500" b="1">
                <a:solidFill>
                  <a:srgbClr val="0E7490"/>
                </a:solidFill>
                <a:latin typeface="Helvetica Neue"/>
              </a:rPr>
              <a:t>now() - drop_after</a:t>
            </a:r>
            <a:r>
              <a:rPr>
                <a:solidFill>
                  <a:srgbClr val="1F2937"/>
                </a:solidFill>
                <a:latin typeface="Helvetica Neue"/>
              </a:rPr>
              <a:t>.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500" b="0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·  En la demo: </a:t>
            </a:r>
            <a:r>
              <a:rPr b="1">
                <a:solidFill>
                  <a:srgbClr val="B45309"/>
                </a:solidFill>
                <a:latin typeface="Helvetica Neue"/>
              </a:rPr>
              <a:t>3 → 2 chunks</a:t>
            </a:r>
            <a:r>
              <a:rPr>
                <a:solidFill>
                  <a:srgbClr val="1F2937"/>
                </a:solidFill>
                <a:latin typeface="Helvetica Neue"/>
              </a:rPr>
              <a:t>; la autopurga se llevó exactamente el más antiguo.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·  Compresión y retención son </a:t>
            </a:r>
            <a:r>
              <a:rPr b="1">
                <a:solidFill>
                  <a:srgbClr val="B45309"/>
                </a:solidFill>
                <a:latin typeface="Helvetica Neue"/>
              </a:rPr>
              <a:t>dos políticas que se complementan</a:t>
            </a:r>
            <a:r>
              <a:rPr>
                <a:solidFill>
                  <a:srgbClr val="1F2937"/>
                </a:solidFill>
                <a:latin typeface="Helvetica Neue"/>
              </a:rPr>
              <a:t>: comprimo lo viejo y, cuando pasa aún más tiempo, lo </a:t>
            </a:r>
            <a:r>
              <a:rPr b="1">
                <a:solidFill>
                  <a:srgbClr val="B45309"/>
                </a:solidFill>
                <a:latin typeface="Helvetica Neue"/>
              </a:rPr>
              <a:t>borro</a:t>
            </a:r>
            <a:r>
              <a:rPr>
                <a:solidFill>
                  <a:srgbClr val="1F2937"/>
                </a:solidFill>
                <a:latin typeface="Helvetica Neue"/>
              </a:rPr>
              <a:t>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3794760"/>
            <a:ext cx="3429000" cy="146304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58200" y="4023360"/>
            <a:ext cx="30175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1">
                <a:solidFill>
                  <a:srgbClr val="B45309"/>
                </a:solidFill>
                <a:latin typeface="Helvetica Neue"/>
              </a:defRPr>
            </a:pPr>
            <a:r>
              <a:rPr>
                <a:solidFill>
                  <a:srgbClr val="B45309"/>
                </a:solidFill>
                <a:latin typeface="Helvetica Neue"/>
              </a:rPr>
              <a:t>En la charla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00" b="0" i="1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“los datos se comprimen y al final de su vida útil, Timescale los borra sin que yo me acuerde”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g_elepha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201168"/>
            <a:ext cx="1371600" cy="14147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2937"/>
                </a:solidFill>
              </a:defRPr>
            </a:pPr>
            <a:r>
              <a:rPr sz="3000" b="1">
                <a:solidFill>
                  <a:srgbClr val="0E7490"/>
                </a:solidFill>
                <a:latin typeface="Helvetica Neue"/>
              </a:rPr>
              <a:t>10_time_bucket.sql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B7280"/>
                </a:solidFill>
                <a:latin typeface="Helvetica Neue"/>
              </a:defRPr>
            </a:pPr>
            <a:r>
              <a:rPr>
                <a:solidFill>
                  <a:srgbClr val="6B7280"/>
                </a:solidFill>
                <a:latin typeface="Helvetica Neue"/>
              </a:rPr>
              <a:t>Downsampling: 240 lecturas sueltas → 24 medias horizontales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868680"/>
            <a:ext cx="960120" cy="4114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6510528"/>
            <a:ext cx="11091672" cy="10972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4710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B7280"/>
                </a:solidFill>
                <a:latin typeface="Helvetica Neue"/>
              </a:defRPr>
            </a:pPr>
            <a:r>
              <a:rPr>
                <a:solidFill>
                  <a:srgbClr val="6B7280"/>
                </a:solidFill>
                <a:latin typeface="Helvetica Neue"/>
              </a:rPr>
              <a:t>Javier Aragón  ·  TimescaleDB — de la telemetría a la decisión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547104"/>
            <a:ext cx="15819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B7280"/>
                </a:solidFill>
                <a:latin typeface="Helvetica Neue"/>
              </a:defRPr>
            </a:pPr>
            <a:r>
              <a:rPr>
                <a:solidFill>
                  <a:srgbClr val="6B7280"/>
                </a:solidFill>
                <a:latin typeface="Helvetica Neue"/>
              </a:rPr>
              <a:t>13 / 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965960"/>
            <a:ext cx="7680960" cy="1362456"/>
          </a:xfrm>
          <a:prstGeom prst="roundRect">
            <a:avLst>
              <a:gd name="adj" fmla="val 6000"/>
            </a:avLst>
          </a:prstGeom>
          <a:solidFill>
            <a:srgbClr val="0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103120"/>
            <a:ext cx="7223760" cy="10881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7DD3FC"/>
                </a:solidFill>
                <a:latin typeface="Menlo"/>
              </a:defRPr>
            </a:pPr>
            <a:r>
              <a:rPr>
                <a:solidFill>
                  <a:srgbClr val="7DD3FC"/>
                </a:solidFill>
                <a:latin typeface="Helvetica Neue"/>
              </a:rPr>
              <a:t>SELECT time_bucket('1 hour', ts) AS hora,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7DD3FC"/>
                </a:solidFill>
                <a:latin typeface="Menlo"/>
              </a:defRPr>
            </a:pPr>
            <a:r>
              <a:rPr>
                <a:solidFill>
                  <a:srgbClr val="7DD3FC"/>
                </a:solidFill>
                <a:latin typeface="Helvetica Neue"/>
              </a:rPr>
              <a:t>       count(*)             AS lecturas,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7DD3FC"/>
                </a:solidFill>
                <a:latin typeface="Menlo"/>
              </a:defRPr>
            </a:pPr>
            <a:r>
              <a:rPr>
                <a:solidFill>
                  <a:srgbClr val="7DD3FC"/>
                </a:solidFill>
                <a:latin typeface="Helvetica Neue"/>
              </a:rPr>
              <a:t>       round(avg(velocidad)::numeric,1) AS vel_media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7DD3FC"/>
                </a:solidFill>
                <a:latin typeface="Menlo"/>
              </a:defRPr>
            </a:pPr>
            <a:r>
              <a:rPr>
                <a:solidFill>
                  <a:srgbClr val="7DD3FC"/>
                </a:solidFill>
                <a:latin typeface="Helvetica Neue"/>
              </a:rPr>
              <a:t>FROM vehiculos_ts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7DD3FC"/>
                </a:solidFill>
                <a:latin typeface="Menlo"/>
              </a:defRPr>
            </a:pPr>
            <a:r>
              <a:rPr>
                <a:solidFill>
                  <a:srgbClr val="7DD3FC"/>
                </a:solidFill>
                <a:latin typeface="Helvetica Neue"/>
              </a:rPr>
              <a:t>GROUP BY 1 ORDER BY 1;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383280"/>
            <a:ext cx="7498079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500" b="0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·  A diferencia de </a:t>
            </a:r>
            <a:r>
              <a:rPr sz="1500" b="1">
                <a:solidFill>
                  <a:srgbClr val="0E7490"/>
                </a:solidFill>
                <a:latin typeface="Helvetica Neue"/>
              </a:rPr>
              <a:t>date_trunc</a:t>
            </a:r>
            <a:r>
              <a:rPr>
                <a:solidFill>
                  <a:srgbClr val="1F2937"/>
                </a:solidFill>
                <a:latin typeface="Helvetica Neue"/>
              </a:rPr>
              <a:t>, alinea con una </a:t>
            </a:r>
            <a:r>
              <a:rPr b="1">
                <a:solidFill>
                  <a:srgbClr val="B45309"/>
                </a:solidFill>
                <a:latin typeface="Helvetica Neue"/>
              </a:rPr>
              <a:t>parrilla fija</a:t>
            </a:r>
            <a:r>
              <a:rPr>
                <a:solidFill>
                  <a:srgbClr val="1F2937"/>
                </a:solidFill>
                <a:latin typeface="Helvetica Neue"/>
              </a:rPr>
              <a:t>: sirve para </a:t>
            </a:r>
            <a:r>
              <a:rPr sz="1500" b="1">
                <a:solidFill>
                  <a:srgbClr val="0E7490"/>
                </a:solidFill>
                <a:latin typeface="Helvetica Neue"/>
              </a:rPr>
              <a:t>2 hours</a:t>
            </a:r>
            <a:r>
              <a:rPr>
                <a:solidFill>
                  <a:srgbClr val="1F2937"/>
                </a:solidFill>
                <a:latin typeface="Helvetica Neue"/>
              </a:rPr>
              <a:t>, </a:t>
            </a:r>
            <a:r>
              <a:rPr sz="1500" b="1">
                <a:solidFill>
                  <a:srgbClr val="0E7490"/>
                </a:solidFill>
                <a:latin typeface="Helvetica Neue"/>
              </a:rPr>
              <a:t>90 minutes</a:t>
            </a:r>
            <a:r>
              <a:rPr>
                <a:solidFill>
                  <a:srgbClr val="1F2937"/>
                </a:solidFill>
                <a:latin typeface="Helvetica Neue"/>
              </a:rPr>
              <a:t>, semanas… y series uniformes.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500" b="0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·  Resultado real (2026-05-15): </a:t>
            </a:r>
            <a:r>
              <a:rPr b="1">
                <a:solidFill>
                  <a:srgbClr val="B45309"/>
                </a:solidFill>
                <a:latin typeface="Helvetica Neue"/>
              </a:rPr>
              <a:t>24 filas</a:t>
            </a:r>
            <a:r>
              <a:rPr>
                <a:solidFill>
                  <a:srgbClr val="1F2937"/>
                </a:solidFill>
                <a:latin typeface="Helvetica Neue"/>
              </a:rPr>
              <a:t>, cada una con sus 10 lecturas de la hora.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·  Es el </a:t>
            </a:r>
            <a:r>
              <a:rPr b="1">
                <a:solidFill>
                  <a:srgbClr val="B45309"/>
                </a:solidFill>
                <a:latin typeface="Helvetica Neue"/>
              </a:rPr>
              <a:t>ladrillo</a:t>
            </a:r>
            <a:r>
              <a:rPr>
                <a:solidFill>
                  <a:srgbClr val="1F2937"/>
                </a:solidFill>
                <a:latin typeface="Helvetica Neue"/>
              </a:rPr>
              <a:t> de los continuous aggregates: si esto lo hace el motor de forma continua, tienes un cagg.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5120640"/>
            <a:ext cx="6766560" cy="29260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5170931"/>
            <a:ext cx="2487168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hora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64992" y="5170931"/>
            <a:ext cx="1810512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lecturas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4960" y="5170931"/>
            <a:ext cx="1810512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vel_media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413248"/>
            <a:ext cx="6766560" cy="27432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5463540"/>
            <a:ext cx="2487168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00:00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64992" y="5463540"/>
            <a:ext cx="1810512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94960" y="5463540"/>
            <a:ext cx="1810512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89,0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5687568"/>
            <a:ext cx="6766560" cy="274320"/>
          </a:xfrm>
          <a:prstGeom prst="rect">
            <a:avLst/>
          </a:prstGeom>
          <a:solidFill>
            <a:srgbClr val="E6E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5737859"/>
            <a:ext cx="2487168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01:00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64992" y="5737859"/>
            <a:ext cx="1810512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94960" y="5737859"/>
            <a:ext cx="1810512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61,6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961888"/>
            <a:ext cx="6766560" cy="27432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6012179"/>
            <a:ext cx="2487168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02:00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64992" y="6012179"/>
            <a:ext cx="1810512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94960" y="6012179"/>
            <a:ext cx="1810512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56,7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6236207"/>
            <a:ext cx="6766560" cy="274320"/>
          </a:xfrm>
          <a:prstGeom prst="rect">
            <a:avLst/>
          </a:prstGeom>
          <a:solidFill>
            <a:srgbClr val="E6E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" y="6286499"/>
            <a:ext cx="2487168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03:00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64992" y="6286499"/>
            <a:ext cx="1810512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94960" y="6286499"/>
            <a:ext cx="1810512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61,0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89520" y="5120640"/>
            <a:ext cx="4023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15803D"/>
                </a:solidFill>
                <a:latin typeface="Helvetica Neue"/>
              </a:defRPr>
            </a:pPr>
            <a:r>
              <a:rPr>
                <a:solidFill>
                  <a:srgbClr val="15803D"/>
                </a:solidFill>
                <a:latin typeface="Helvetica Neue"/>
              </a:rPr>
              <a:t>240 → 24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280"/>
                </a:solidFill>
                <a:latin typeface="Helvetica Neue"/>
              </a:defRPr>
            </a:pPr>
            <a:r>
              <a:rPr>
                <a:solidFill>
                  <a:srgbClr val="6B7280"/>
                </a:solidFill>
                <a:latin typeface="Helvetica Neue"/>
              </a:rPr>
              <a:t>la misma información, al tamaño de una diapositiva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g_elepha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201168"/>
            <a:ext cx="1371600" cy="14147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2937"/>
                </a:solidFill>
              </a:defRPr>
            </a:pPr>
            <a:r>
              <a:rPr sz="3000" b="1">
                <a:solidFill>
                  <a:srgbClr val="0E7490"/>
                </a:solidFill>
                <a:latin typeface="Helvetica Neue"/>
              </a:rPr>
              <a:t>11_continuous_aggregates.sql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B7280"/>
                </a:solidFill>
                <a:latin typeface="Helvetica Neue"/>
              </a:defRPr>
            </a:pPr>
            <a:r>
              <a:rPr>
                <a:solidFill>
                  <a:srgbClr val="6B7280"/>
                </a:solidFill>
                <a:latin typeface="Helvetica Neue"/>
              </a:rPr>
              <a:t>Continuous aggregates: el resumen precalculado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868680"/>
            <a:ext cx="960120" cy="4114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6510528"/>
            <a:ext cx="11091672" cy="10972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4710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B7280"/>
                </a:solidFill>
                <a:latin typeface="Helvetica Neue"/>
              </a:defRPr>
            </a:pPr>
            <a:r>
              <a:rPr>
                <a:solidFill>
                  <a:srgbClr val="6B7280"/>
                </a:solidFill>
                <a:latin typeface="Helvetica Neue"/>
              </a:rPr>
              <a:t>Javier Aragón  ·  TimescaleDB — de la telemetría a la decisión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547104"/>
            <a:ext cx="15819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B7280"/>
                </a:solidFill>
                <a:latin typeface="Helvetica Neue"/>
              </a:defRPr>
            </a:pPr>
            <a:r>
              <a:rPr>
                <a:solidFill>
                  <a:srgbClr val="6B7280"/>
                </a:solidFill>
                <a:latin typeface="Helvetica Neue"/>
              </a:rPr>
              <a:t>14 / 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920240"/>
            <a:ext cx="7498079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500" b="0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Una </a:t>
            </a:r>
            <a:r>
              <a:rPr b="1">
                <a:solidFill>
                  <a:srgbClr val="B45309"/>
                </a:solidFill>
                <a:latin typeface="Helvetica Neue"/>
              </a:rPr>
              <a:t>vista materializada</a:t>
            </a:r>
            <a:r>
              <a:rPr>
                <a:solidFill>
                  <a:srgbClr val="1F2937"/>
                </a:solidFill>
                <a:latin typeface="Helvetica Neue"/>
              </a:rPr>
              <a:t> que guarda el resultado de </a:t>
            </a:r>
            <a:r>
              <a:rPr sz="1500" b="1">
                <a:solidFill>
                  <a:srgbClr val="0E7490"/>
                </a:solidFill>
                <a:latin typeface="Helvetica Neue"/>
              </a:rPr>
              <a:t>time_bucket + GROUP BY</a:t>
            </a:r>
            <a:r>
              <a:rPr>
                <a:solidFill>
                  <a:srgbClr val="1F2937"/>
                </a:solidFill>
                <a:latin typeface="Helvetica Neue"/>
              </a:rPr>
              <a:t>; se refresca </a:t>
            </a:r>
            <a:r>
              <a:rPr b="1">
                <a:solidFill>
                  <a:srgbClr val="B45309"/>
                </a:solidFill>
                <a:latin typeface="Helvetica Neue"/>
              </a:rPr>
              <a:t>por ventanas</a:t>
            </a:r>
            <a:r>
              <a:rPr>
                <a:solidFill>
                  <a:srgbClr val="1F2937"/>
                </a:solidFill>
                <a:latin typeface="Helvetica Neue"/>
              </a:rPr>
              <a:t> (solo lo que cambió).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1500" b="0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Vive en su propia hypertable (</a:t>
            </a:r>
            <a:r>
              <a:rPr sz="1500" b="1">
                <a:solidFill>
                  <a:srgbClr val="0E7490"/>
                </a:solidFill>
                <a:latin typeface="Helvetica Neue"/>
              </a:rPr>
              <a:t>_materialized_hypertable_*</a:t>
            </a:r>
            <a:r>
              <a:rPr>
                <a:solidFill>
                  <a:srgbClr val="1F2937"/>
                </a:solidFill>
                <a:latin typeface="Helvetica Neue"/>
              </a:rPr>
              <a:t> — el nombre cambia por recreación).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Evidencias:</a:t>
            </a:r>
          </a:p>
          <a:p>
            <a:pPr algn="l" lvl="1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tamaño: cruda </a:t>
            </a:r>
            <a:r>
              <a:rPr b="1">
                <a:solidFill>
                  <a:srgbClr val="B45309"/>
                </a:solidFill>
                <a:latin typeface="Helvetica Neue"/>
              </a:rPr>
              <a:t>94 MB</a:t>
            </a:r>
            <a:r>
              <a:rPr>
                <a:solidFill>
                  <a:srgbClr val="1F2937"/>
                </a:solidFill>
                <a:latin typeface="Helvetica Neue"/>
              </a:rPr>
              <a:t> → cagg </a:t>
            </a:r>
            <a:r>
              <a:rPr b="1">
                <a:solidFill>
                  <a:srgbClr val="B45309"/>
                </a:solidFill>
                <a:latin typeface="Helvetica Neue"/>
              </a:rPr>
              <a:t>57 MB</a:t>
            </a:r>
            <a:r>
              <a:rPr>
                <a:solidFill>
                  <a:srgbClr val="1F2937"/>
                </a:solidFill>
                <a:latin typeface="Helvetica Neue"/>
              </a:rPr>
              <a:t> (aún sin comprimir)</a:t>
            </a:r>
          </a:p>
          <a:p>
            <a:pPr algn="l" lvl="1">
              <a:spcBef>
                <a:spcPts val="0"/>
              </a:spcBef>
              <a:spcAft>
                <a:spcPts val="800"/>
              </a:spcAft>
              <a:defRPr sz="1400" b="0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consulta 1 año: cruda ~24 ms · 16.121 buffers → </a:t>
            </a:r>
            <a:r>
              <a:rPr b="1">
                <a:solidFill>
                  <a:srgbClr val="B45309"/>
                </a:solidFill>
                <a:latin typeface="Helvetica Neue"/>
              </a:rPr>
              <a:t>cagg ~9 ms · 1.640 buffers</a:t>
            </a:r>
            <a:r>
              <a:rPr>
                <a:solidFill>
                  <a:srgbClr val="1F2937"/>
                </a:solidFill>
                <a:latin typeface="Helvetica Neue"/>
              </a:rPr>
              <a:t> (~10× menos I/O)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B45309"/>
                </a:solidFill>
                <a:latin typeface="Helvetica Neue"/>
              </a:defRPr>
            </a:pPr>
            <a:r>
              <a:rPr b="1">
                <a:solidFill>
                  <a:srgbClr val="B45309"/>
                </a:solidFill>
                <a:latin typeface="Helvetica Neue"/>
              </a:rPr>
              <a:t>Gotcha 2.30</a:t>
            </a:r>
            <a:r>
              <a:rPr>
                <a:solidFill>
                  <a:srgbClr val="B45309"/>
                </a:solidFill>
                <a:latin typeface="Helvetica Neue"/>
              </a:rPr>
              <a:t>: </a:t>
            </a:r>
            <a:r>
              <a:rPr sz="1500" b="1">
                <a:solidFill>
                  <a:srgbClr val="0E7490"/>
                </a:solidFill>
                <a:latin typeface="Helvetica Neue"/>
              </a:rPr>
              <a:t>materialized_only = t</a:t>
            </a:r>
            <a:r>
              <a:rPr>
                <a:solidFill>
                  <a:srgbClr val="B45309"/>
                </a:solidFill>
                <a:latin typeface="Helvetica Neue"/>
              </a:rPr>
              <a:t> (sin realtime) → la fila recién insertada no sale hasta refrescar (manual o política).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5029200"/>
            <a:ext cx="7498079" cy="1051560"/>
          </a:xfrm>
          <a:prstGeom prst="roundRect">
            <a:avLst>
              <a:gd name="adj" fmla="val 6000"/>
            </a:avLst>
          </a:prstGeom>
          <a:solidFill>
            <a:srgbClr val="0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166360"/>
            <a:ext cx="7040879" cy="7772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7DD3FC"/>
                </a:solidFill>
                <a:latin typeface="Menlo"/>
              </a:defRPr>
            </a:pPr>
            <a:r>
              <a:rPr>
                <a:solidFill>
                  <a:srgbClr val="7DD3FC"/>
                </a:solidFill>
                <a:latin typeface="Helvetica Neue"/>
              </a:rPr>
              <a:t>SELECT add_continuous_aggregate_policy('cag_vel_hora',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7DD3FC"/>
                </a:solidFill>
                <a:latin typeface="Menlo"/>
              </a:defRPr>
            </a:pPr>
            <a:r>
              <a:rPr>
                <a:solidFill>
                  <a:srgbClr val="7DD3FC"/>
                </a:solidFill>
                <a:latin typeface="Helvetica Neue"/>
              </a:rPr>
              <a:t>  start_offset =&gt; INTERVAL '1 month',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7DD3FC"/>
                </a:solidFill>
                <a:latin typeface="Menlo"/>
              </a:defRPr>
            </a:pPr>
            <a:r>
              <a:rPr>
                <a:solidFill>
                  <a:srgbClr val="7DD3FC"/>
                </a:solidFill>
                <a:latin typeface="Helvetica Neue"/>
              </a:rPr>
              <a:t>  end_offset   =&gt; INTERVAL '1 hour',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7DD3FC"/>
                </a:solidFill>
                <a:latin typeface="Menlo"/>
              </a:defRPr>
            </a:pPr>
            <a:r>
              <a:rPr>
                <a:solidFill>
                  <a:srgbClr val="7DD3FC"/>
                </a:solidFill>
                <a:latin typeface="Helvetica Neue"/>
              </a:rPr>
              <a:t>  schedule_interval =&gt; INTERVAL '1 hour');  -- refresco cada hora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920240"/>
            <a:ext cx="3429000" cy="283464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58200" y="2148840"/>
            <a:ext cx="301752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1">
                <a:solidFill>
                  <a:srgbClr val="B45309"/>
                </a:solidFill>
                <a:latin typeface="Helvetica Neue"/>
              </a:defRPr>
            </a:pPr>
            <a:r>
              <a:rPr>
                <a:solidFill>
                  <a:srgbClr val="B45309"/>
                </a:solidFill>
                <a:latin typeface="Helvetica Neue"/>
              </a:rPr>
              <a:t>cagg cag_vel_hora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3000" b="1">
                <a:solidFill>
                  <a:srgbClr val="15803D"/>
                </a:solidFill>
                <a:latin typeface="Helvetica Neue"/>
              </a:defRPr>
            </a:pPr>
            <a:r>
              <a:rPr>
                <a:solidFill>
                  <a:srgbClr val="15803D"/>
                </a:solidFill>
                <a:latin typeface="Helvetica Neue"/>
              </a:rPr>
              <a:t>360 001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1100" b="0">
                <a:solidFill>
                  <a:srgbClr val="6B7280"/>
                </a:solidFill>
                <a:latin typeface="Helvetica Neue"/>
              </a:defRPr>
            </a:pPr>
            <a:r>
              <a:rPr>
                <a:solidFill>
                  <a:srgbClr val="6B7280"/>
                </a:solidFill>
                <a:latin typeface="Helvetica Neue"/>
              </a:rPr>
              <a:t>buckets (hora × coche)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 i="1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Refresco: 1 h, ventana [−1 mes, −1 h] — el bucket en curso no se recalcula.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g_elepha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201168"/>
            <a:ext cx="1371600" cy="14147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2937"/>
                </a:solidFill>
              </a:defRPr>
            </a:pPr>
            <a:r>
              <a:rPr sz="3000" b="1">
                <a:solidFill>
                  <a:srgbClr val="0E7490"/>
                </a:solidFill>
                <a:latin typeface="Helvetica Neue"/>
              </a:rPr>
              <a:t>12_tuning_gucs.sql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B7280"/>
                </a:solidFill>
                <a:latin typeface="Helvetica Neue"/>
              </a:defRPr>
            </a:pPr>
            <a:r>
              <a:rPr>
                <a:solidFill>
                  <a:srgbClr val="6B7280"/>
                </a:solidFill>
                <a:latin typeface="Helvetica Neue"/>
              </a:rPr>
              <a:t>Tuning: Timescale es PostgreSQL + media docena de GUC propias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868680"/>
            <a:ext cx="960120" cy="4114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6510528"/>
            <a:ext cx="11091672" cy="10972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4710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B7280"/>
                </a:solidFill>
                <a:latin typeface="Helvetica Neue"/>
              </a:defRPr>
            </a:pPr>
            <a:r>
              <a:rPr>
                <a:solidFill>
                  <a:srgbClr val="6B7280"/>
                </a:solidFill>
                <a:latin typeface="Helvetica Neue"/>
              </a:rPr>
              <a:t>Javier Aragón  ·  TimescaleDB — de la telemetría a la decisión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547104"/>
            <a:ext cx="15819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B7280"/>
                </a:solidFill>
                <a:latin typeface="Helvetica Neue"/>
              </a:defRPr>
            </a:pPr>
            <a:r>
              <a:rPr>
                <a:solidFill>
                  <a:srgbClr val="6B7280"/>
                </a:solidFill>
                <a:latin typeface="Helvetica Neue"/>
              </a:rPr>
              <a:t>15 / 18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011680"/>
            <a:ext cx="11064240" cy="329184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2061972"/>
            <a:ext cx="376367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50" b="1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Parámetro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41494" y="2061972"/>
            <a:ext cx="3984955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50" b="1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Valor aquí (8 CPU / 8 GB, auto)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45905" y="2061972"/>
            <a:ext cx="2657246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50" b="1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Regla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340864"/>
            <a:ext cx="11064240" cy="301752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2404872"/>
            <a:ext cx="376367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50" b="0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shared_buffers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41494" y="2404872"/>
            <a:ext cx="3984955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50" b="0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~2 GB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45905" y="2404872"/>
            <a:ext cx="2657246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50" b="0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25 % de la RAM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642616"/>
            <a:ext cx="11064240" cy="301752"/>
          </a:xfrm>
          <a:prstGeom prst="rect">
            <a:avLst/>
          </a:prstGeom>
          <a:solidFill>
            <a:srgbClr val="E6E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2706624"/>
            <a:ext cx="376367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50" b="0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effective_cache_size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41494" y="2706624"/>
            <a:ext cx="3984955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50" b="0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~5,7 GB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45905" y="2706624"/>
            <a:ext cx="2657246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50" b="0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~75 % de la RAM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2944368"/>
            <a:ext cx="11064240" cy="301752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3008376"/>
            <a:ext cx="376367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50" b="0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work_mem / maintenance_work_mem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41494" y="3008376"/>
            <a:ext cx="3984955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50" b="0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8 MB / ~1 GB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45905" y="3008376"/>
            <a:ext cx="2657246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50" b="0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8-16 MB · 5-6 % RAM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246120"/>
            <a:ext cx="11064240" cy="301752"/>
          </a:xfrm>
          <a:prstGeom prst="rect">
            <a:avLst/>
          </a:prstGeom>
          <a:solidFill>
            <a:srgbClr val="E6E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" y="3310128"/>
            <a:ext cx="376367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50" b="0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max_parallel_workers / _per_gather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41494" y="3310128"/>
            <a:ext cx="3984955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50" b="0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8 / 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45905" y="3310128"/>
            <a:ext cx="2657246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50" b="0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= nº de núcleos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3547872"/>
            <a:ext cx="11064240" cy="301752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3611880"/>
            <a:ext cx="376367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50" b="0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max_worker_processes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41494" y="3611880"/>
            <a:ext cx="3984955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50" b="0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27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45905" y="3611880"/>
            <a:ext cx="2657246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50" b="0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parallel + bgw + margen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3849624"/>
            <a:ext cx="11064240" cy="301752"/>
          </a:xfrm>
          <a:prstGeom prst="rect">
            <a:avLst/>
          </a:prstGeom>
          <a:solidFill>
            <a:srgbClr val="E6E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8368" y="3913632"/>
            <a:ext cx="376367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50" b="0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timescaledb.max_background_workers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41494" y="3913632"/>
            <a:ext cx="3984955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50" b="0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16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45905" y="3913632"/>
            <a:ext cx="2657246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50" b="0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hilos de los jobs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4151376"/>
            <a:ext cx="11064240" cy="301752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8368" y="4215384"/>
            <a:ext cx="376367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50" b="0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timescaledb.max_open_chunks_per_insert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641494" y="4215384"/>
            <a:ext cx="3984955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50" b="0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1024 → 16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845905" y="4215384"/>
            <a:ext cx="2657246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50" b="0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≥chunks abiertos en un INSERT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" y="4453128"/>
            <a:ext cx="11064240" cy="301752"/>
          </a:xfrm>
          <a:prstGeom prst="rect">
            <a:avLst/>
          </a:prstGeom>
          <a:solidFill>
            <a:srgbClr val="E6E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8368" y="4517136"/>
            <a:ext cx="376367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50" b="0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timescaledb.telemetry_level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41494" y="4517136"/>
            <a:ext cx="3984955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50" b="0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basic → off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845905" y="4517136"/>
            <a:ext cx="2657246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50" b="0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off en producción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" y="5120640"/>
            <a:ext cx="110642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La imagen </a:t>
            </a:r>
            <a:r>
              <a:rPr sz="1300" b="1">
                <a:solidFill>
                  <a:srgbClr val="0E7490"/>
                </a:solidFill>
                <a:latin typeface="Helvetica Neue"/>
              </a:rPr>
              <a:t>timescaledb</a:t>
            </a:r>
            <a:r>
              <a:rPr>
                <a:solidFill>
                  <a:srgbClr val="1F2937"/>
                </a:solidFill>
                <a:latin typeface="Helvetica Neue"/>
              </a:rPr>
              <a:t> </a:t>
            </a:r>
            <a:r>
              <a:rPr b="1">
                <a:solidFill>
                  <a:srgbClr val="B45309"/>
                </a:solidFill>
                <a:latin typeface="Helvetica Neue"/>
              </a:rPr>
              <a:t>auto-tunea al arrancar</a:t>
            </a:r>
            <a:r>
              <a:rPr>
                <a:solidFill>
                  <a:srgbClr val="1F2937"/>
                </a:solidFill>
                <a:latin typeface="Helvetica Neue"/>
              </a:rPr>
              <a:t> según CPU/RAM del contenedor. En producción, más RAM/corees de job y chunks grandes…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0E7490"/>
                </a:solidFill>
                <a:latin typeface="Menlo"/>
              </a:defRPr>
            </a:pPr>
            <a:r>
              <a:rPr>
                <a:solidFill>
                  <a:srgbClr val="0E7490"/>
                </a:solidFill>
                <a:latin typeface="Helvetica Neue"/>
              </a:rPr>
              <a:t>Ejemplo 4 CPU / 16 GB: </a:t>
            </a:r>
            <a:r>
              <a:rPr sz="1200" b="1">
                <a:solidFill>
                  <a:srgbClr val="0E7490"/>
                </a:solidFill>
                <a:latin typeface="Helvetica Neue"/>
              </a:rPr>
              <a:t>ALTER SYSTEM SET max_worker_processes=28; max_background_workers=8; max_open_chunks_per_insert=16;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g_elepha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201168"/>
            <a:ext cx="1371600" cy="14147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2937"/>
                </a:solidFill>
              </a:defRPr>
            </a:pPr>
            <a:r>
              <a:rPr sz="3000" b="1">
                <a:solidFill>
                  <a:srgbClr val="0E7490"/>
                </a:solidFill>
                <a:latin typeface="Helvetica Neue"/>
              </a:rPr>
              <a:t>13_jobs_personalizados_bonus.sql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B7280"/>
                </a:solidFill>
                <a:latin typeface="Helvetica Neue"/>
              </a:defRPr>
            </a:pPr>
            <a:r>
              <a:rPr>
                <a:solidFill>
                  <a:srgbClr val="6B7280"/>
                </a:solidFill>
                <a:latin typeface="Helvetica Neue"/>
              </a:rPr>
              <a:t>Jobs personalizados: Timescale como cron de PostgreSQL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868680"/>
            <a:ext cx="960120" cy="4114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6510528"/>
            <a:ext cx="11091672" cy="10972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4710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B7280"/>
                </a:solidFill>
                <a:latin typeface="Helvetica Neue"/>
              </a:defRPr>
            </a:pPr>
            <a:r>
              <a:rPr>
                <a:solidFill>
                  <a:srgbClr val="6B7280"/>
                </a:solidFill>
                <a:latin typeface="Helvetica Neue"/>
              </a:rPr>
              <a:t>Javier Aragón  ·  TimescaleDB — de la telemetría a la decisión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547104"/>
            <a:ext cx="15819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B7280"/>
                </a:solidFill>
                <a:latin typeface="Helvetica Neue"/>
              </a:defRPr>
            </a:pPr>
            <a:r>
              <a:rPr>
                <a:solidFill>
                  <a:srgbClr val="6B7280"/>
                </a:solidFill>
                <a:latin typeface="Helvetica Neue"/>
              </a:rPr>
              <a:t>16 / 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965960"/>
            <a:ext cx="7680960" cy="1325880"/>
          </a:xfrm>
          <a:prstGeom prst="roundRect">
            <a:avLst>
              <a:gd name="adj" fmla="val 6000"/>
            </a:avLst>
          </a:prstGeom>
          <a:solidFill>
            <a:srgbClr val="0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103120"/>
            <a:ext cx="722376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7DD3FC"/>
                </a:solidFill>
                <a:latin typeface="Menlo"/>
              </a:defRPr>
            </a:pPr>
            <a:r>
              <a:rPr>
                <a:solidFill>
                  <a:srgbClr val="7DD3FC"/>
                </a:solidFill>
                <a:latin typeface="Helvetica Neue"/>
              </a:rPr>
              <a:t>SELECT add_job('calc_kpi_ultima_hora(int,jsonb)'::regprocedure,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7DD3FC"/>
                </a:solidFill>
                <a:latin typeface="Menlo"/>
              </a:defRPr>
            </a:pPr>
            <a:r>
              <a:rPr>
                <a:solidFill>
                  <a:srgbClr val="7DD3FC"/>
                </a:solidFill>
                <a:latin typeface="Helvetica Neue"/>
              </a:rPr>
              <a:t>               schedule_interval =&gt; INTERVAL '1 hour');  -- se registra solo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7DD3FC"/>
                </a:solidFill>
                <a:latin typeface="Menlo"/>
              </a:defRPr>
            </a:pPr>
            <a:r>
              <a:rPr>
                <a:solidFill>
                  <a:srgbClr val="7DD3FC"/>
                </a:solidFill>
                <a:latin typeface="Helvetica Neue"/>
              </a:rPr>
              <a:t>CALL run_job(&lt;job_id&gt;);          -- rellena kpi_velocidad (10 filas)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7DD3FC"/>
                </a:solidFill>
                <a:latin typeface="Menlo"/>
              </a:defRPr>
            </a:pPr>
            <a:r>
              <a:rPr>
                <a:solidFill>
                  <a:srgbClr val="7DD3FC"/>
                </a:solidFill>
                <a:latin typeface="Helvetica Neue"/>
              </a:rPr>
              <a:t>SELECT alter_job(&lt;job_id&gt;, scheduled =&gt; false);  SELECT delete_job(&lt;job_id&gt;);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7DD3FC"/>
                </a:solidFill>
                <a:latin typeface="Menlo"/>
              </a:defRPr>
            </a:pPr>
            <a:r>
              <a:rPr>
                <a:solidFill>
                  <a:srgbClr val="7DD3FC"/>
                </a:solidFill>
                <a:latin typeface="Helvetica Neue"/>
              </a:rPr>
              <a:t>SELECT add_job(...);             -- recreado → otro 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566160"/>
            <a:ext cx="7498079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500" b="0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·  Programas </a:t>
            </a:r>
            <a:r>
              <a:rPr b="1">
                <a:solidFill>
                  <a:srgbClr val="B45309"/>
                </a:solidFill>
                <a:latin typeface="Helvetica Neue"/>
              </a:rPr>
              <a:t>cualquier procedimiento/función PostgreSQL</a:t>
            </a:r>
            <a:r>
              <a:rPr>
                <a:solidFill>
                  <a:srgbClr val="1F2937"/>
                </a:solidFill>
                <a:latin typeface="Helvetica Neue"/>
              </a:rPr>
              <a:t> en el planificador de fondo: sin cron aparte.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500" b="0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·  El procedimiento recibe </a:t>
            </a:r>
            <a:r>
              <a:rPr sz="1500" b="1">
                <a:solidFill>
                  <a:srgbClr val="0E7490"/>
                </a:solidFill>
                <a:latin typeface="Helvetica Neue"/>
              </a:rPr>
              <a:t>job_id int, config jsonb</a:t>
            </a:r>
            <a:r>
              <a:rPr>
                <a:solidFill>
                  <a:srgbClr val="1F2937"/>
                </a:solidFill>
                <a:latin typeface="Helvetica Neue"/>
              </a:rPr>
              <a:t> (Timescale los inyecta).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500" b="0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·  Nuestro ejemplo: calcula los </a:t>
            </a:r>
            <a:r>
              <a:rPr b="1">
                <a:solidFill>
                  <a:srgbClr val="B45309"/>
                </a:solidFill>
                <a:latin typeface="Helvetica Neue"/>
              </a:rPr>
              <a:t>máximos de velocidad/rpm de la última hora completa</a:t>
            </a:r>
            <a:r>
              <a:rPr>
                <a:solidFill>
                  <a:srgbClr val="1F2937"/>
                </a:solidFill>
                <a:latin typeface="Helvetica Neue"/>
              </a:rPr>
              <a:t> y los upserta en </a:t>
            </a:r>
            <a:r>
              <a:rPr sz="1500" b="1">
                <a:solidFill>
                  <a:srgbClr val="0E7490"/>
                </a:solidFill>
                <a:latin typeface="Helvetica Neue"/>
              </a:rPr>
              <a:t>kpi_velocidad</a:t>
            </a:r>
            <a:r>
              <a:rPr>
                <a:solidFill>
                  <a:srgbClr val="1F2937"/>
                </a:solidFill>
                <a:latin typeface="Helvetica Neue"/>
              </a:rPr>
              <a:t>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·  En 2.30 el borrado es </a:t>
            </a:r>
            <a:r>
              <a:rPr sz="1500" b="1">
                <a:solidFill>
                  <a:srgbClr val="0E7490"/>
                </a:solidFill>
                <a:latin typeface="Helvetica Neue"/>
              </a:rPr>
              <a:t>delete_job</a:t>
            </a:r>
            <a:r>
              <a:rPr>
                <a:solidFill>
                  <a:srgbClr val="1F2937"/>
                </a:solidFill>
                <a:latin typeface="Helvetica Neue"/>
              </a:rPr>
              <a:t> (el viejo </a:t>
            </a:r>
            <a:r>
              <a:rPr sz="1500" b="1">
                <a:solidFill>
                  <a:srgbClr val="0E7490"/>
                </a:solidFill>
                <a:latin typeface="Helvetica Neue"/>
              </a:rPr>
              <a:t>remove_job</a:t>
            </a:r>
            <a:r>
              <a:rPr>
                <a:solidFill>
                  <a:srgbClr val="1F2937"/>
                </a:solidFill>
                <a:latin typeface="Helvetica Neue"/>
              </a:rPr>
              <a:t> ya no existe).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965960"/>
            <a:ext cx="3429000" cy="237744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58200" y="2194560"/>
            <a:ext cx="301752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1">
                <a:solidFill>
                  <a:srgbClr val="B45309"/>
                </a:solidFill>
                <a:latin typeface="Helvetica Neue"/>
              </a:defRPr>
            </a:pPr>
            <a:r>
              <a:rPr>
                <a:solidFill>
                  <a:srgbClr val="B45309"/>
                </a:solidFill>
                <a:latin typeface="Helvetica Neue"/>
              </a:rPr>
              <a:t>kpi_velocidad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100" b="0">
                <a:solidFill>
                  <a:srgbClr val="6B7280"/>
                </a:solidFill>
                <a:latin typeface="Helvetica Neue"/>
              </a:defRPr>
            </a:pPr>
            <a:r>
              <a:rPr>
                <a:solidFill>
                  <a:srgbClr val="6B7280"/>
                </a:solidFill>
                <a:latin typeface="Helvetica Neue"/>
              </a:rPr>
              <a:t>1 fila por coche y hora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500" b="1">
                <a:solidFill>
                  <a:srgbClr val="15803D"/>
                </a:solidFill>
                <a:latin typeface="Helvetica Neue"/>
              </a:defRPr>
            </a:pPr>
            <a:r>
              <a:rPr>
                <a:solidFill>
                  <a:srgbClr val="15803D"/>
                </a:solidFill>
                <a:latin typeface="Helvetica Neue"/>
              </a:rPr>
              <a:t>27.7 → 1.934 rpm_max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280"/>
                </a:solidFill>
                <a:latin typeface="Helvetica Neue"/>
              </a:defRPr>
            </a:pPr>
            <a:r>
              <a:rPr>
                <a:solidFill>
                  <a:srgbClr val="6B7280"/>
                </a:solidFill>
                <a:latin typeface="Helvetica Neue"/>
              </a:rPr>
              <a:t>datos de muestra, job ejecutado a mano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g_elepha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201168"/>
            <a:ext cx="1371600" cy="14147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2937"/>
                </a:solidFill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El círculo de la telemetría: 4 políticas que mantienen viva la historia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960120" cy="4114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6510528"/>
            <a:ext cx="11091672" cy="10972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4710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B7280"/>
                </a:solidFill>
                <a:latin typeface="Helvetica Neue"/>
              </a:defRPr>
            </a:pPr>
            <a:r>
              <a:rPr>
                <a:solidFill>
                  <a:srgbClr val="6B7280"/>
                </a:solidFill>
                <a:latin typeface="Helvetica Neue"/>
              </a:rPr>
              <a:t>Javier Aragón  ·  TimescaleDB — de la telemetría a la decisión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547104"/>
            <a:ext cx="15819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B7280"/>
                </a:solidFill>
                <a:latin typeface="Helvetica Neue"/>
              </a:defRPr>
            </a:pPr>
            <a:r>
              <a:rPr>
                <a:solidFill>
                  <a:srgbClr val="6B7280"/>
                </a:solidFill>
                <a:latin typeface="Helvetica Neue"/>
              </a:rPr>
              <a:t>17 / 18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286000"/>
            <a:ext cx="1755648" cy="658368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2377440"/>
            <a:ext cx="153619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E7490"/>
                </a:solidFill>
                <a:latin typeface="Helvetica Neue"/>
              </a:defRPr>
            </a:pPr>
            <a:r>
              <a:rPr>
                <a:solidFill>
                  <a:srgbClr val="0E7490"/>
                </a:solidFill>
                <a:latin typeface="Helvetica Neue"/>
              </a:rPr>
              <a:t>INGESTA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670048"/>
            <a:ext cx="15361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B7280"/>
                </a:solidFill>
                <a:latin typeface="Helvetica Neue"/>
              </a:defRPr>
            </a:pPr>
            <a:r>
              <a:rPr>
                <a:solidFill>
                  <a:srgbClr val="6B7280"/>
                </a:solidFill>
                <a:latin typeface="Helvetica Neue"/>
              </a:rPr>
              <a:t>lotes ≥1000 o COPY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368296" y="2286000"/>
            <a:ext cx="1755648" cy="658368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78024" y="2377440"/>
            <a:ext cx="153619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HIPERTABLE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78024" y="2670048"/>
            <a:ext cx="15361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B7280"/>
                </a:solidFill>
                <a:latin typeface="Helvetica Neue"/>
              </a:defRPr>
            </a:pPr>
            <a:r>
              <a:rPr>
                <a:solidFill>
                  <a:srgbClr val="6B7280"/>
                </a:solidFill>
                <a:latin typeface="Helvetica Neue"/>
              </a:rPr>
              <a:t>chunks por tiempo · comprime lo viejo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87952" y="2286000"/>
            <a:ext cx="1755648" cy="658368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97680" y="2377440"/>
            <a:ext cx="153619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5803D"/>
                </a:solidFill>
                <a:latin typeface="Helvetica Neue"/>
              </a:defRPr>
            </a:pPr>
            <a:r>
              <a:rPr>
                <a:solidFill>
                  <a:srgbClr val="15803D"/>
                </a:solidFill>
                <a:latin typeface="Helvetica Neue"/>
              </a:rPr>
              <a:t>COMPRIME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2670048"/>
            <a:ext cx="15361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B7280"/>
                </a:solidFill>
                <a:latin typeface="Helvetica Neue"/>
              </a:defRPr>
            </a:pPr>
            <a:r>
              <a:rPr>
                <a:solidFill>
                  <a:srgbClr val="6B7280"/>
                </a:solidFill>
                <a:latin typeface="Helvetica Neue"/>
              </a:rPr>
              <a:t>rowstore → columnstore · −70 %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07607" y="2286000"/>
            <a:ext cx="1755648" cy="658368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17336" y="2377440"/>
            <a:ext cx="153619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5803D"/>
                </a:solidFill>
                <a:latin typeface="Helvetica Neue"/>
              </a:defRPr>
            </a:pPr>
            <a:r>
              <a:rPr>
                <a:solidFill>
                  <a:srgbClr val="15803D"/>
                </a:solidFill>
                <a:latin typeface="Helvetica Neue"/>
              </a:rPr>
              <a:t>AGREGA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17336" y="2670048"/>
            <a:ext cx="15361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B7280"/>
                </a:solidFill>
                <a:latin typeface="Helvetica Neue"/>
              </a:defRPr>
            </a:pPr>
            <a:r>
              <a:rPr>
                <a:solidFill>
                  <a:srgbClr val="6B7280"/>
                </a:solidFill>
                <a:latin typeface="Helvetica Neue"/>
              </a:rPr>
              <a:t>cagg cada hora · −10× I/O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27264" y="2286000"/>
            <a:ext cx="1755648" cy="658368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36992" y="2377440"/>
            <a:ext cx="153619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B91C1C"/>
                </a:solidFill>
                <a:latin typeface="Helvetica Neue"/>
              </a:defRPr>
            </a:pPr>
            <a:r>
              <a:rPr>
                <a:solidFill>
                  <a:srgbClr val="B91C1C"/>
                </a:solidFill>
                <a:latin typeface="Helvetica Neue"/>
              </a:rPr>
              <a:t>BORRA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36992" y="2670048"/>
            <a:ext cx="15361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B7280"/>
                </a:solidFill>
                <a:latin typeface="Helvetica Neue"/>
              </a:defRPr>
            </a:pPr>
            <a:r>
              <a:rPr>
                <a:solidFill>
                  <a:srgbClr val="6B7280"/>
                </a:solidFill>
                <a:latin typeface="Helvetica Neue"/>
              </a:rPr>
              <a:t>autopurga del chunk caducado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646919" y="2286000"/>
            <a:ext cx="1755648" cy="658368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56647" y="2377440"/>
            <a:ext cx="153619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B45309"/>
                </a:solidFill>
                <a:latin typeface="Helvetica Neue"/>
              </a:defRPr>
            </a:pPr>
            <a:r>
              <a:rPr>
                <a:solidFill>
                  <a:srgbClr val="B45309"/>
                </a:solidFill>
                <a:latin typeface="Helvetica Neue"/>
              </a:rPr>
              <a:t>KPI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56647" y="2670048"/>
            <a:ext cx="15361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B7280"/>
                </a:solidFill>
                <a:latin typeface="Helvetica Neue"/>
              </a:defRPr>
            </a:pPr>
            <a:r>
              <a:rPr>
                <a:solidFill>
                  <a:srgbClr val="6B7280"/>
                </a:solidFill>
                <a:latin typeface="Helvetica Neue"/>
              </a:rPr>
              <a:t>cualquier procedimiento, cron propio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3054096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B45309"/>
                </a:solidFill>
                <a:latin typeface="Helvetica Neue"/>
              </a:defRPr>
            </a:pPr>
            <a:r>
              <a:rPr>
                <a:solidFill>
                  <a:srgbClr val="B45309"/>
                </a:solidFill>
                <a:latin typeface="Helvetica Neue"/>
              </a:rP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3383280"/>
            <a:ext cx="7498079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600" b="1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Cuatro procesos de fondo vivos de principio a fin: compresión, retención, refresco del cagg y el KPI custom (cada uno con su id, asignado por Timescale).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B45309"/>
                </a:solidFill>
                <a:latin typeface="Helvetica Neue"/>
              </a:defRPr>
            </a:pPr>
            <a:r>
              <a:rPr>
                <a:solidFill>
                  <a:srgbClr val="B45309"/>
                </a:solidFill>
                <a:latin typeface="Helvetica Neue"/>
              </a:rPr>
              <a:t>El pipeline completo: </a:t>
            </a:r>
            <a:r>
              <a:rPr b="1">
                <a:solidFill>
                  <a:srgbClr val="B45309"/>
                </a:solidFill>
                <a:latin typeface="Helvetica Neue"/>
              </a:rPr>
              <a:t>comprimo lo viejo, agrego a mitad de camino y borro lo caducado — sin que nadie se acuerde</a:t>
            </a:r>
            <a:r>
              <a:rPr>
                <a:solidFill>
                  <a:srgbClr val="B45309"/>
                </a:solidFill>
                <a:latin typeface="Helvetica Neue"/>
              </a:rPr>
              <a:t>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 i="1">
                <a:solidFill>
                  <a:srgbClr val="6B7280"/>
                </a:solidFill>
                <a:latin typeface="Helvetica Neue"/>
              </a:defRPr>
            </a:pPr>
            <a:r>
              <a:rPr>
                <a:solidFill>
                  <a:srgbClr val="6B7280"/>
                </a:solidFill>
                <a:latin typeface="Helvetica Neue"/>
              </a:rPr>
              <a:t>La telemetría que era un vertedero de números se convierte en un pipeline que decide por ti.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g_elepha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201168"/>
            <a:ext cx="1371600" cy="14147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192024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B45309"/>
                </a:solidFill>
                <a:latin typeface="Helvetica Neue"/>
              </a:defRPr>
            </a:pPr>
            <a:r>
              <a:rPr>
                <a:solidFill>
                  <a:srgbClr val="B45309"/>
                </a:solidFill>
                <a:latin typeface="Helvetica Neue"/>
              </a:rPr>
              <a:t>LO QUE NOS LLEVAMOS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37744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800" b="1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25 minutos para ver cómo PostgreSQL no tiene miedo al volumen.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657600"/>
            <a:ext cx="7498079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600" b="0">
                <a:solidFill>
                  <a:srgbClr val="1F2937"/>
                </a:solidFill>
                <a:latin typeface="Helvetica Neue"/>
              </a:defRPr>
            </a:pPr>
            <a:r>
              <a:rPr b="1">
                <a:solidFill>
                  <a:srgbClr val="B45309"/>
                </a:solidFill>
                <a:latin typeface="Helvetica Neue"/>
              </a:rPr>
              <a:t>Comprimir</a:t>
            </a:r>
            <a:r>
              <a:rPr>
                <a:solidFill>
                  <a:srgbClr val="1F2937"/>
                </a:solidFill>
                <a:latin typeface="Helvetica Neue"/>
              </a:rPr>
              <a:t> casi sin esfuerzo: 56 → 17 MB por chunk, lossless.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600" b="0">
                <a:solidFill>
                  <a:srgbClr val="1F2937"/>
                </a:solidFill>
                <a:latin typeface="Helvetica Neue"/>
              </a:defRPr>
            </a:pPr>
            <a:r>
              <a:rPr b="1">
                <a:solidFill>
                  <a:srgbClr val="B45309"/>
                </a:solidFill>
                <a:latin typeface="Helvetica Neue"/>
              </a:rPr>
              <a:t>Leer 1 de 1.500 chunks</a:t>
            </a:r>
            <a:r>
              <a:rPr>
                <a:solidFill>
                  <a:srgbClr val="1F2937"/>
                </a:solidFill>
                <a:latin typeface="Helvetica Neue"/>
              </a:rPr>
              <a:t> cuando filtras por tiempo (pruning) y agregados precalculados ~10× menos I/O.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600" b="0">
                <a:solidFill>
                  <a:srgbClr val="1F2937"/>
                </a:solidFill>
                <a:latin typeface="Helvetica Neue"/>
              </a:defRPr>
            </a:pPr>
            <a:r>
              <a:rPr b="1">
                <a:solidFill>
                  <a:srgbClr val="B45309"/>
                </a:solidFill>
                <a:latin typeface="Helvetica Neue"/>
              </a:rPr>
              <a:t>Automatizar el ciclo de vida</a:t>
            </a:r>
            <a:r>
              <a:rPr>
                <a:solidFill>
                  <a:srgbClr val="1F2937"/>
                </a:solidFill>
                <a:latin typeface="Helvetica Neue"/>
              </a:rPr>
              <a:t>: compresión, retención, refresco y cualquier procedimiento con 4 líneas.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Y aun así: sigue siendo PostgreSQL. </a:t>
            </a:r>
            <a:r>
              <a:rPr sz="1600" b="1">
                <a:solidFill>
                  <a:srgbClr val="0E7490"/>
                </a:solidFill>
                <a:latin typeface="Helvetica Neue"/>
              </a:rPr>
              <a:t>EXPLAIN</a:t>
            </a:r>
            <a:r>
              <a:rPr>
                <a:solidFill>
                  <a:srgbClr val="1F2937"/>
                </a:solidFill>
                <a:latin typeface="Helvetica Neue"/>
              </a:rPr>
              <a:t>, catálogo abierto, tuning estándar.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532120"/>
            <a:ext cx="11064240" cy="10972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5669280"/>
            <a:ext cx="7315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Javier Aragón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200" b="0">
                <a:solidFill>
                  <a:srgbClr val="0E7490"/>
                </a:solidFill>
                <a:latin typeface="Helvetica Neue"/>
              </a:defRPr>
            </a:pPr>
            <a:r>
              <a:rPr>
                <a:solidFill>
                  <a:srgbClr val="0E7490"/>
                </a:solidFill>
                <a:latin typeface="Helvetica Neue"/>
              </a:rPr>
              <a:t>Arquitecto IT · javier.aragon.diaz@gmail.com · linkedin.com/in/javieraragondiaz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280"/>
                </a:solidFill>
                <a:latin typeface="Helvetica Neue"/>
              </a:defRPr>
            </a:pPr>
            <a:r>
              <a:rPr>
                <a:solidFill>
                  <a:srgbClr val="6B7280"/>
                </a:solidFill>
                <a:latin typeface="Helvetica Neue"/>
              </a:rPr>
              <a:t>Repo con los scripts de esta demo: github.com/xavipuerto/autometrics-demo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5760720"/>
            <a:ext cx="3840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300" b="0" i="1">
                <a:solidFill>
                  <a:srgbClr val="B45309"/>
                </a:solidFill>
                <a:latin typeface="Helvetica Neue"/>
              </a:defRPr>
            </a:pPr>
            <a:r>
              <a:rPr>
                <a:solidFill>
                  <a:srgbClr val="B45309"/>
                </a:solidFill>
                <a:latin typeface="Helvetica Neue"/>
              </a:rPr>
              <a:t>"Con los datos tengo la pregunta clara: ¿qué me están contando?"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