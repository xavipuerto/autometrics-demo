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Javier Aragón</a:t>
            </a:r>
            <a:r>
              <a:rPr>
                <a:solidFill>
                  <a:srgbClr val="1F2937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B45309"/>
                </a:solidFill>
                <a:latin typeface="Helvetica Neue"/>
              </a:rPr>
              <a:t>Idrica · Xylem</a:t>
            </a:r>
            <a:r>
              <a:rPr>
                <a:solidFill>
                  <a:srgbClr val="1F2937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07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08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09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11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12   El círculo de la telemetría — resumen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Es una </a:t>
            </a:r>
            <a:r>
              <a:rPr b="1">
                <a:solidFill>
                  <a:srgbClr val="B45309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1F2937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B45309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1F2937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lo hace </a:t>
            </a:r>
            <a:r>
              <a:rPr b="1">
                <a:solidFill>
                  <a:srgbClr val="B45309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1F2937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B45309"/>
                </a:solidFill>
                <a:latin typeface="Helvetica Neue"/>
              </a:rPr>
              <a:t>Tiger Cloud</a:t>
            </a:r>
            <a:r>
              <a:rPr>
                <a:solidFill>
                  <a:srgbClr val="1F2937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B45309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1F2937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01_ddl.sql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05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Hypertable</a:t>
            </a:r>
            <a:r>
              <a:rPr>
                <a:solidFill>
                  <a:srgbClr val="1F2937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TABLE</a:t>
            </a:r>
            <a:r>
              <a:rPr>
                <a:solidFill>
                  <a:srgbClr val="1F2937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Chunk</a:t>
            </a:r>
            <a:r>
              <a:rPr>
                <a:solidFill>
                  <a:srgbClr val="1F2937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1F2937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chunk_time_interval</a:t>
            </a:r>
            <a:r>
              <a:rPr>
                <a:solidFill>
                  <a:srgbClr val="1F2937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B45309"/>
                </a:solidFill>
                <a:latin typeface="Helvetica Neue"/>
              </a:rPr>
              <a:t>1 día</a:t>
            </a:r>
            <a:r>
              <a:rPr>
                <a:solidFill>
                  <a:srgbClr val="1F2937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vehiculos_ts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7680960" cy="1490472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223760" cy="12161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6B7280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_hyper_*</a:t>
            </a:r>
            <a:r>
              <a:rPr>
                <a:solidFill>
                  <a:srgbClr val="6B7280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0E7490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02_grande.sql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06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B45309"/>
                </a:solidFill>
                <a:latin typeface="Helvetica Neue"/>
              </a:rPr>
              <a:t>overhead por chunk</a:t>
            </a:r>
            <a:r>
              <a:rPr>
                <a:solidFill>
                  <a:srgbClr val="1F2937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Regla práctica</a:t>
            </a:r>
            <a:r>
              <a:rPr>
                <a:solidFill>
                  <a:srgbClr val="1F2937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B45309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1F2937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07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B45309"/>
                </a:solidFill>
                <a:latin typeface="Helvetica Neue"/>
              </a:rPr>
              <a:t>columnstore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1F2937"/>
                </a:solidFill>
                <a:latin typeface="Helvetica Neue"/>
              </a:rPr>
              <a:t>) y es </a:t>
            </a:r>
            <a:r>
              <a:rPr b="1">
                <a:solidFill>
                  <a:srgbClr val="B45309"/>
                </a:solidFill>
                <a:latin typeface="Helvetica Neue"/>
              </a:rPr>
              <a:t>lossless</a:t>
            </a:r>
            <a:r>
              <a:rPr>
                <a:solidFill>
                  <a:srgbClr val="1F2937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count(*)</a:t>
            </a:r>
            <a:r>
              <a:rPr>
                <a:solidFill>
                  <a:srgbClr val="1F2937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Algoritmo por defecto: Timescale lo elige solo al comprimir, </a:t>
            </a:r>
            <a:r>
              <a:rPr b="1">
                <a:solidFill>
                  <a:srgbClr val="B45309"/>
                </a:solidFill>
                <a:latin typeface="Helvetica Neue"/>
              </a:rPr>
              <a:t>según el tipo de cada columna</a:t>
            </a:r>
            <a:r>
              <a:rPr>
                <a:solidFill>
                  <a:srgbClr val="1F2937"/>
                </a:solidFill>
                <a:latin typeface="Helvetica Neue"/>
              </a:rPr>
              <a:t> (catálogo 2.30):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DELTADELTA</a:t>
            </a:r>
            <a:r>
              <a:rPr>
                <a:solidFill>
                  <a:srgbClr val="1F2937"/>
                </a:solidFill>
                <a:latin typeface="Helvetica Neue"/>
              </a:rPr>
              <a:t> + simple-8b + RLE → enteros y timestamps (el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ts</a:t>
            </a:r>
            <a:r>
              <a:rPr>
                <a:solidFill>
                  <a:srgbClr val="1F2937"/>
                </a:solidFill>
                <a:latin typeface="Helvetica Neue"/>
              </a:rPr>
              <a:t> pasa de 64 bits a ~1)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GORILLA</a:t>
            </a:r>
            <a:r>
              <a:rPr>
                <a:solidFill>
                  <a:srgbClr val="1F2937"/>
                </a:solidFill>
                <a:latin typeface="Helvetica Neue"/>
              </a:rPr>
              <a:t> (XOR)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DICTIONARY</a:t>
            </a:r>
            <a:r>
              <a:rPr>
                <a:solidFill>
                  <a:srgbClr val="1F2937"/>
                </a:solidFill>
                <a:latin typeface="Helvetica Neue"/>
              </a:rPr>
              <a:t> → baja cardinalidad: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auto_id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BOOL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UUID</a:t>
            </a:r>
            <a:r>
              <a:rPr>
                <a:solidFill>
                  <a:srgbClr val="1F2937"/>
                </a:solidFill>
                <a:latin typeface="Helvetica Neue"/>
              </a:rPr>
              <a:t> → bools e ids;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ARRAY</a:t>
            </a:r>
            <a:r>
              <a:rPr>
                <a:solidFill>
                  <a:srgbClr val="1F2937"/>
                </a:solidFill>
                <a:latin typeface="Helvetica Neue"/>
              </a:rPr>
              <a:t> solo para filtros/índices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Tú no pides el algoritmo (solo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segmentby</a:t>
            </a:r>
            <a:r>
              <a:rPr>
                <a:solidFill>
                  <a:srgbClr val="1F2937"/>
                </a:solidFill>
                <a:latin typeface="Helvetica Neue"/>
              </a:rPr>
              <a:t>/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orderby</a:t>
            </a:r>
            <a:r>
              <a:rPr>
                <a:solidFill>
                  <a:srgbClr val="1F2937"/>
                </a:solidFill>
                <a:latin typeface="Helvetica Neue"/>
              </a:rPr>
              <a:t>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timescaledb_information.compression_settings</a:t>
            </a:r>
            <a:r>
              <a:rPr>
                <a:solidFill>
                  <a:srgbClr val="1F2937"/>
                </a:solidFill>
                <a:latin typeface="Helvetica Neue"/>
              </a:rPr>
              <a:t> muestra lo aplicado.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B45309"/>
                </a:solidFill>
                <a:latin typeface="Helvetica Neue"/>
              </a:rPr>
              <a:t>viejo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Ventana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Después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Comprimido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3002 (… 6004)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56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B45309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1F2937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1F2937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3001</a:t>
            </a:r>
            <a:r>
              <a:rPr>
                <a:solidFill>
                  <a:srgbClr val="1F2937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6003</a:t>
            </a:r>
            <a:r>
              <a:rPr>
                <a:solidFill>
                  <a:srgbClr val="1F2937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B45309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1F2937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1.555.200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09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Mito a corregir</a:t>
            </a:r>
            <a:r>
              <a:rPr>
                <a:solidFill>
                  <a:srgbClr val="1F2937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B45309"/>
                </a:solidFill>
                <a:latin typeface="Helvetica Neue"/>
              </a:rPr>
              <a:t>falso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B45309"/>
                </a:solidFill>
                <a:latin typeface="Helvetica Neue"/>
              </a:rPr>
              <a:t>overflow rowstore</a:t>
            </a:r>
            <a:r>
              <a:rPr>
                <a:solidFill>
                  <a:srgbClr val="1F2937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is_compressed</a:t>
            </a:r>
            <a:r>
              <a:rPr>
                <a:solidFill>
                  <a:srgbClr val="1F2937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</a:t>
            </a:r>
            <a:r>
              <a:rPr>
                <a:solidFill>
                  <a:srgbClr val="1F2937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crece</a:t>
            </a:r>
            <a:r>
              <a:rPr>
                <a:solidFill>
                  <a:srgbClr val="1F2937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B45309"/>
                </a:solidFill>
                <a:latin typeface="Helvetica Neue"/>
              </a:rPr>
              <a:t>recomprimir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compress_chunk()</a:t>
            </a:r>
            <a:r>
              <a:rPr>
                <a:solidFill>
                  <a:srgbClr val="1F2937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B45309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B45309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compress_chunk</a:t>
            </a:r>
            <a:r>
              <a:rPr>
                <a:solidFill>
                  <a:srgbClr val="6B7280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10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7680960" cy="17830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72237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Cada </a:t>
            </a:r>
            <a:r>
              <a:rPr b="1">
                <a:solidFill>
                  <a:srgbClr val="B45309"/>
                </a:solidFill>
                <a:latin typeface="Helvetica Neue"/>
              </a:rPr>
              <a:t>24 h</a:t>
            </a:r>
            <a:r>
              <a:rPr>
                <a:solidFill>
                  <a:srgbClr val="1F2937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B45309"/>
                </a:solidFill>
                <a:latin typeface="Helvetica Neue"/>
              </a:rPr>
              <a:t>&gt;24 h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1F2937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1F2937"/>
                </a:solidFill>
                <a:latin typeface="Helvetica Neue"/>
              </a:rPr>
              <a:t>: nunca toca la ventana reciente (por eso el chunk de control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job_stats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job_history</a:t>
            </a:r>
            <a:r>
              <a:rPr>
                <a:solidFill>
                  <a:srgbClr val="1F2937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11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1F2937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Borra </a:t>
            </a:r>
            <a:r>
              <a:rPr b="1">
                <a:solidFill>
                  <a:srgbClr val="B45309"/>
                </a:solidFill>
                <a:latin typeface="Helvetica Neue"/>
              </a:rPr>
              <a:t>chunks completos</a:t>
            </a:r>
            <a:r>
              <a:rPr>
                <a:solidFill>
                  <a:srgbClr val="1F2937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range_end</a:t>
            </a:r>
            <a:r>
              <a:rPr>
                <a:solidFill>
                  <a:srgbClr val="1F2937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now() - drop_after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B45309"/>
                </a:solidFill>
                <a:latin typeface="Helvetica Neue"/>
              </a:rPr>
              <a:t>3 → 2 chunks</a:t>
            </a:r>
            <a:r>
              <a:rPr>
                <a:solidFill>
                  <a:srgbClr val="1F2937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B45309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1F2937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B45309"/>
                </a:solidFill>
                <a:latin typeface="Helvetica Neue"/>
              </a:rPr>
              <a:t>borro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13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362456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date_trunc</a:t>
            </a:r>
            <a:r>
              <a:rPr>
                <a:solidFill>
                  <a:srgbClr val="1F2937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B45309"/>
                </a:solidFill>
                <a:latin typeface="Helvetica Neue"/>
              </a:rPr>
              <a:t>parrilla fija</a:t>
            </a:r>
            <a:r>
              <a:rPr>
                <a:solidFill>
                  <a:srgbClr val="1F2937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2 hours</a:t>
            </a:r>
            <a:r>
              <a:rPr>
                <a:solidFill>
                  <a:srgbClr val="1F2937"/>
                </a:solidFill>
                <a:latin typeface="Helvetica Neue"/>
              </a:rPr>
              <a:t>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90 minutes</a:t>
            </a:r>
            <a:r>
              <a:rPr>
                <a:solidFill>
                  <a:srgbClr val="1F2937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B45309"/>
                </a:solidFill>
                <a:latin typeface="Helvetica Neue"/>
              </a:rPr>
              <a:t>24 filas</a:t>
            </a:r>
            <a:r>
              <a:rPr>
                <a:solidFill>
                  <a:srgbClr val="1F2937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Es el </a:t>
            </a:r>
            <a:r>
              <a:rPr b="1">
                <a:solidFill>
                  <a:srgbClr val="B45309"/>
                </a:solidFill>
                <a:latin typeface="Helvetica Neue"/>
              </a:rPr>
              <a:t>ladrillo</a:t>
            </a:r>
            <a:r>
              <a:rPr>
                <a:solidFill>
                  <a:srgbClr val="1F2937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lecturas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vel_media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00:00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89,0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56,7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Una </a:t>
            </a:r>
            <a:r>
              <a:rPr b="1">
                <a:solidFill>
                  <a:srgbClr val="B45309"/>
                </a:solidFill>
                <a:latin typeface="Helvetica Neue"/>
              </a:rPr>
              <a:t>vista materializada</a:t>
            </a:r>
            <a:r>
              <a:rPr>
                <a:solidFill>
                  <a:srgbClr val="1F2937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1F2937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B45309"/>
                </a:solidFill>
                <a:latin typeface="Helvetica Neue"/>
              </a:rPr>
              <a:t>por ventanas</a:t>
            </a:r>
            <a:r>
              <a:rPr>
                <a:solidFill>
                  <a:srgbClr val="1F2937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1F2937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B45309"/>
                </a:solidFill>
                <a:latin typeface="Helvetica Neue"/>
              </a:rPr>
              <a:t>94 MB</a:t>
            </a:r>
            <a:r>
              <a:rPr>
                <a:solidFill>
                  <a:srgbClr val="1F2937"/>
                </a:solidFill>
                <a:latin typeface="Helvetica Neue"/>
              </a:rPr>
              <a:t> → cagg </a:t>
            </a:r>
            <a:r>
              <a:rPr b="1">
                <a:solidFill>
                  <a:srgbClr val="B45309"/>
                </a:solidFill>
                <a:latin typeface="Helvetica Neue"/>
              </a:rPr>
              <a:t>57 MB</a:t>
            </a:r>
            <a:r>
              <a:rPr>
                <a:solidFill>
                  <a:srgbClr val="1F2937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B45309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1F2937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Gotcha 2.30</a:t>
            </a:r>
            <a:r>
              <a:rPr>
                <a:solidFill>
                  <a:srgbClr val="B45309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B45309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Parámetro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Regla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shared_buffers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25 % de la 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~5,7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~75 % de la 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MB / ~1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/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= nº de núcleos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1024 →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basic → off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timescaledb</a:t>
            </a:r>
            <a:r>
              <a:rPr>
                <a:solidFill>
                  <a:srgbClr val="1F2937"/>
                </a:solidFill>
                <a:latin typeface="Helvetica Neue"/>
              </a:rPr>
              <a:t> </a:t>
            </a:r>
            <a:r>
              <a:rPr b="1">
                <a:solidFill>
                  <a:srgbClr val="B45309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1F2937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B45309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1F2937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1F2937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B45309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1F2937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kpi_velocidad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delete_job</a:t>
            </a:r>
            <a:r>
              <a:rPr>
                <a:solidFill>
                  <a:srgbClr val="1F2937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remove_job</a:t>
            </a:r>
            <a:r>
              <a:rPr>
                <a:solidFill>
                  <a:srgbClr val="1F2937"/>
                </a:solidFill>
                <a:latin typeface="Helvetica Neue"/>
              </a:rPr>
              <a:t> ya no existe).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INGESTA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HIPERTABLE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COMPRIME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AGREGA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91C1C"/>
                </a:solidFill>
                <a:latin typeface="Helvetica Neue"/>
              </a:defRPr>
            </a:pPr>
            <a:r>
              <a:rPr>
                <a:solidFill>
                  <a:srgbClr val="B91C1C"/>
                </a:solidFill>
                <a:latin typeface="Helvetica Neue"/>
              </a:rPr>
              <a:t>BORRA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B45309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B45309"/>
                </a:solidFill>
                <a:latin typeface="Helvetica Neue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Comprimir</a:t>
            </a:r>
            <a:r>
              <a:rPr>
                <a:solidFill>
                  <a:srgbClr val="1F2937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1F2937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1F2937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